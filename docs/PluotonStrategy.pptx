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94" r:id="rId3"/>
    <p:sldMasterId id="2147483699" r:id="rId4"/>
    <p:sldMasterId id="2147483713" r:id="rId5"/>
  </p:sldMasterIdLst>
  <p:notesMasterIdLst>
    <p:notesMasterId r:id="rId12"/>
  </p:notesMasterIdLst>
  <p:sldIdLst>
    <p:sldId id="820" r:id="rId6"/>
    <p:sldId id="2857" r:id="rId7"/>
    <p:sldId id="1906872563" r:id="rId8"/>
    <p:sldId id="1906872569" r:id="rId9"/>
    <p:sldId id="1906872570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58" y="-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FC8AB6A1-27E9-4726-8EED-1379C2B79D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99EB2F96-A524-4376-ABC5-3FEBABEBAA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74109FF-31FD-44DD-9BFD-B595E095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273184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id="{62554568-01B3-4431-8A8E-3067ECE43F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id="{CCA78229-FDF4-4DB6-B436-CBCFEF9314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id="{D012A4F1-1A7B-4861-AAD0-9C8C48E69A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76" name="Text Placeholder 44">
            <a:extLst>
              <a:ext uri="{FF2B5EF4-FFF2-40B4-BE49-F238E27FC236}">
                <a16:creationId xmlns:a16="http://schemas.microsoft.com/office/drawing/2014/main" id="{87432211-FA1B-4912-9E9D-1B7D1089CA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439731EE-FBBF-4749-8E58-161D1BD24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53987512-4428-45A6-9E5A-ECC62C5A784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02847DEE-A5F9-4C29-B154-1544212CE4E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8FDB1794-F8AB-4138-AAA1-A52DD6E79A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DF893CCF-7E5D-47A2-BEAA-290732009D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29F35-82A7-4CD0-B264-4B8953C83B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2728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D7B9C33-7860-4A78-8365-326155D0D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7948321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3EC794A-FC92-4AAF-AE86-050FA799F5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1586DA7-028B-46B2-8DE5-CD490E3A7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36396688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42A75EB-71CE-4543-ADEB-9A7264CF8B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BCD1C719-53DB-4DE0-999D-A83E05EEDF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933372D4-A8C3-4A0E-8BC4-35430C7D44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12AE7316-6AEE-48C3-B262-F48CA4EEC2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309F3C08-340B-4262-BE8D-7E0EC29922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4" name="Slide Number Placeholder 9">
            <a:extLst>
              <a:ext uri="{FF2B5EF4-FFF2-40B4-BE49-F238E27FC236}">
                <a16:creationId xmlns:a16="http://schemas.microsoft.com/office/drawing/2014/main" id="{D8EB1850-1114-408C-A2E4-09622ECAB1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F77B05F-F630-4362-9489-073AAEA27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1F1FA6F-6B29-4B4E-AC66-C4BE76E3CE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E4CAE9FD-CC6F-4B12-A12B-D279A44AE3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</p:spTree>
    <p:extLst>
      <p:ext uri="{BB962C8B-B14F-4D97-AF65-F5344CB8AC3E}">
        <p14:creationId xmlns:p14="http://schemas.microsoft.com/office/powerpoint/2010/main" val="7592727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9466026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9538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EABE65-FD93-400B-BAEB-2365B18C10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47176E6-F8F4-49FC-A12D-CEB5CA6D6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AF73BDE-319D-4219-A5C1-DEB5792189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DF4D03-0BE8-4D31-82A4-F39747E4BF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12886E8-E82B-4DDD-A8BC-ECFC852D39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202F5B-10E0-4D04-965B-2D05E3CD1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B25A7F6-703D-4F00-A0EC-1566C7F2D3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26FD1142-0F2D-45CB-946D-E52751A238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33236912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D5BE5DC-7FFD-494C-891B-8A475F26F4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A863DAF-BB89-4865-8063-7F6B6BAB45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406299295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9A86D32D-DCCA-FB41-AD6B-6114273CE67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3FA79AB-3280-3942-8811-1F447CF932F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226A25B-26CF-1C41-961E-12B3F363E00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6B7DA53-39E1-40DB-8E3D-AC55EE3B9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29D22D92-75BB-4297-B843-557296E6C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E4BED6B8-7C00-4120-ABBA-D82093551A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7E68CA9F-EC78-418D-9A6B-0239F68A44B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9FBF1373-D4D2-4CA6-A203-BB25B6AE23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E87B3F04-4595-45EE-8C80-2D66D058FF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FAFD4B38-A351-4DBA-B2B5-067F273948E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412379296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675CFBC7-8550-4627-B678-91E938DCAA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9530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78730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9257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BC0154-8F01-45CA-849D-34E3AE00CF0F}"/>
              </a:ext>
            </a:extLst>
          </p:cNvPr>
          <p:cNvGrpSpPr>
            <a:grpSpLocks noChangeAspect="1"/>
          </p:cNvGrpSpPr>
          <p:nvPr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AE479CA-D694-4F45-BD11-38BE36BB3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6BA3475-6F51-4B12-8741-D94FF0367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20097703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404CCCA-4129-4663-91C0-1D86079B09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848CCB8-4740-4B43-BCEF-5A546C11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8157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77305F73-3F10-4781-AEC1-D21924227102}"/>
              </a:ext>
            </a:extLst>
          </p:cNvPr>
          <p:cNvSpPr txBox="1">
            <a:spLocks/>
          </p:cNvSpPr>
          <p:nvPr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98951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st Master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F3EA-AEAF-C548-BD0C-AD25459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816B7-92BE-DC41-81A1-B94823C5B2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4488" y="1219200"/>
            <a:ext cx="11510962" cy="483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E4E6-DE9C-9B41-A230-03A839F777D8}"/>
              </a:ext>
            </a:extLst>
          </p:cNvPr>
          <p:cNvSpPr txBox="1">
            <a:spLocks/>
          </p:cNvSpPr>
          <p:nvPr/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2063165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1C0017E-4521-4295-9033-A405A2FA81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43EE0978-DC3A-4D86-83BC-C2F42549CA6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74B3D656-7B78-4FFC-881D-DD01CAC5AD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52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318202-F5EF-4F94-A2FB-2820022F3F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pic>
        <p:nvPicPr>
          <p:cNvPr id="8" name="Picture 7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337CFDD-6A45-4B8B-A44A-81963DA234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image" Target="../media/image12.png"/><Relationship Id="rId3" Type="http://schemas.openxmlformats.org/officeDocument/2006/relationships/slideLayout" Target="../slideLayouts/slideLayout12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image" Target="../media/image11.png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0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image" Target="../media/image9.png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image" Target="../media/image8.png"/><Relationship Id="rId27" Type="http://schemas.openxmlformats.org/officeDocument/2006/relationships/image" Target="../media/image1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92.xml"/><Relationship Id="rId50" Type="http://schemas.openxmlformats.org/officeDocument/2006/relationships/slideLayout" Target="../slideLayouts/slideLayout95.xml"/><Relationship Id="rId55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90.xml"/><Relationship Id="rId53" Type="http://schemas.openxmlformats.org/officeDocument/2006/relationships/slideLayout" Target="../slideLayouts/slideLayout98.xml"/><Relationship Id="rId58" Type="http://schemas.openxmlformats.org/officeDocument/2006/relationships/theme" Target="../theme/theme5.xml"/><Relationship Id="rId5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43" Type="http://schemas.openxmlformats.org/officeDocument/2006/relationships/slideLayout" Target="../slideLayouts/slideLayout88.xml"/><Relationship Id="rId48" Type="http://schemas.openxmlformats.org/officeDocument/2006/relationships/slideLayout" Target="../slideLayouts/slideLayout93.xml"/><Relationship Id="rId56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53.xml"/><Relationship Id="rId51" Type="http://schemas.openxmlformats.org/officeDocument/2006/relationships/slideLayout" Target="../slideLayouts/slideLayout96.xml"/><Relationship Id="rId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Relationship Id="rId4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65.xml"/><Relationship Id="rId41" Type="http://schemas.openxmlformats.org/officeDocument/2006/relationships/slideLayout" Target="../slideLayouts/slideLayout86.xml"/><Relationship Id="rId54" Type="http://schemas.openxmlformats.org/officeDocument/2006/relationships/slideLayout" Target="../slideLayouts/slideLayout99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49" Type="http://schemas.openxmlformats.org/officeDocument/2006/relationships/slideLayout" Target="../slideLayouts/slideLayout94.xml"/><Relationship Id="rId57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76.xml"/><Relationship Id="rId44" Type="http://schemas.openxmlformats.org/officeDocument/2006/relationships/slideLayout" Target="../slideLayouts/slideLayout89.xml"/><Relationship Id="rId52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F6B3343-B4EF-4BC5-A753-D80C4EADB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Accenture_Technology" hidden="1">
            <a:extLst>
              <a:ext uri="{FF2B5EF4-FFF2-40B4-BE49-F238E27FC236}">
                <a16:creationId xmlns:a16="http://schemas.microsoft.com/office/drawing/2014/main" id="{7F561B55-4A32-431D-8BA4-1A51234302A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243985"/>
            <a:ext cx="2024293" cy="333289"/>
          </a:xfrm>
          <a:prstGeom prst="rect">
            <a:avLst/>
          </a:prstGeom>
        </p:spPr>
      </p:pic>
      <p:pic>
        <p:nvPicPr>
          <p:cNvPr id="9" name="Accenture_Strategy" hidden="1">
            <a:extLst>
              <a:ext uri="{FF2B5EF4-FFF2-40B4-BE49-F238E27FC236}">
                <a16:creationId xmlns:a16="http://schemas.microsoft.com/office/drawing/2014/main" id="{C33EDD26-4BAD-4452-B33F-48241F98D59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10" name="Accenture_Operations" hidden="1">
            <a:extLst>
              <a:ext uri="{FF2B5EF4-FFF2-40B4-BE49-F238E27FC236}">
                <a16:creationId xmlns:a16="http://schemas.microsoft.com/office/drawing/2014/main" id="{88E87CB4-5755-499D-91D5-9B8DF482A9E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11" name="Accenture_Mobility" hidden="1">
            <a:extLst>
              <a:ext uri="{FF2B5EF4-FFF2-40B4-BE49-F238E27FC236}">
                <a16:creationId xmlns:a16="http://schemas.microsoft.com/office/drawing/2014/main" id="{CADE9D37-50D3-4E92-9D49-2C716078D159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12" name="Accenture_Interactive" hidden="1">
            <a:extLst>
              <a:ext uri="{FF2B5EF4-FFF2-40B4-BE49-F238E27FC236}">
                <a16:creationId xmlns:a16="http://schemas.microsoft.com/office/drawing/2014/main" id="{279B5443-5FDB-4D90-9C86-4ACF31740D6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13" name="Accenture_Analytics" hidden="1">
            <a:extLst>
              <a:ext uri="{FF2B5EF4-FFF2-40B4-BE49-F238E27FC236}">
                <a16:creationId xmlns:a16="http://schemas.microsoft.com/office/drawing/2014/main" id="{7E3C0033-CE00-4F44-B4DA-32082D33C83C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4" name="Accenture_Digital" hidden="1">
            <a:extLst>
              <a:ext uri="{FF2B5EF4-FFF2-40B4-BE49-F238E27FC236}">
                <a16:creationId xmlns:a16="http://schemas.microsoft.com/office/drawing/2014/main" id="{D9D2CA43-44F5-4DDC-AF71-4F5FDFF1B30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15" name="Accenture_Consulting" hidden="1">
            <a:extLst>
              <a:ext uri="{FF2B5EF4-FFF2-40B4-BE49-F238E27FC236}">
                <a16:creationId xmlns:a16="http://schemas.microsoft.com/office/drawing/2014/main" id="{3344A5AB-F329-4B8E-8006-34B6E40B0028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</p:sldLayoutIdLst>
  <p:hf hdr="0" ft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991" y="2405772"/>
            <a:ext cx="1434219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1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 (Team Leader)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3" y="2098914"/>
            <a:ext cx="143729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/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35" y="4361533"/>
            <a:ext cx="1434219" cy="1471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22BD40-322C-ABE1-0903-ADC4AB583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96" y="2408579"/>
            <a:ext cx="1434211" cy="14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6145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Describe the problem statement (200 words)</a:t>
            </a:r>
            <a:endParaRPr lang="en-IN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201" name="Subhead"/>
          <p:cNvSpPr txBox="1"/>
          <p:nvPr/>
        </p:nvSpPr>
        <p:spPr>
          <a:xfrm>
            <a:off x="361458" y="960000"/>
            <a:ext cx="11282796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600" b="1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AI is now in the decision path. Assurance is still in the weekly report.</a:t>
            </a:r>
          </a:p>
        </p:txBody>
      </p:sp>
      <p:sp>
        <p:nvSpPr>
          <p:cNvPr id="202" name="Stat0"/>
          <p:cNvSpPr txBox="1"/>
          <p:nvPr/>
        </p:nvSpPr>
        <p:spPr>
          <a:xfrm>
            <a:off x="361458" y="1400000"/>
            <a:ext cx="3627598" cy="980000"/>
          </a:xfrm>
          <a:prstGeom prst="roundRect">
            <a:avLst>
              <a:gd name="adj" fmla="val 10000"/>
            </a:avLst>
          </a:prstGeom>
          <a:solidFill>
            <a:srgbClr val="F4EDFB"/>
          </a:solidFill>
          <a:ln>
            <a:noFill/>
          </a:ln>
        </p:spPr>
        <p:txBody>
          <a:bodyPr wrap="square" lIns="146304" tIns="91440" rIns="146304" bIns="73152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2800" b="1" i="0" dirty="0">
                <a:solidFill>
                  <a:srgbClr val="A100FF"/>
                </a:solidFill>
                <a:latin typeface="Arial" pitchFamily="34" charset="0"/>
                <a:cs typeface="Arial" pitchFamily="34" charset="0"/>
              </a:rPr>
              <a:t>2%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n-IN" sz="1000" b="0" i="0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of organisations have fully operationalised responsible AI</a:t>
            </a:r>
          </a:p>
        </p:txBody>
      </p:sp>
      <p:sp>
        <p:nvSpPr>
          <p:cNvPr id="203" name="Stat1"/>
          <p:cNvSpPr txBox="1"/>
          <p:nvPr/>
        </p:nvSpPr>
        <p:spPr>
          <a:xfrm>
            <a:off x="4189056" y="1400000"/>
            <a:ext cx="3627598" cy="980000"/>
          </a:xfrm>
          <a:prstGeom prst="roundRect">
            <a:avLst>
              <a:gd name="adj" fmla="val 10000"/>
            </a:avLst>
          </a:prstGeom>
          <a:solidFill>
            <a:srgbClr val="F4EDFB"/>
          </a:solidFill>
          <a:ln>
            <a:noFill/>
          </a:ln>
        </p:spPr>
        <p:txBody>
          <a:bodyPr wrap="square" lIns="146304" tIns="91440" rIns="146304" bIns="73152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2800" b="1" i="0" dirty="0">
                <a:solidFill>
                  <a:srgbClr val="A100FF"/>
                </a:solidFill>
                <a:latin typeface="Arial" pitchFamily="34" charset="0"/>
                <a:cs typeface="Arial" pitchFamily="34" charset="0"/>
              </a:rPr>
              <a:t>~11,000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n-IN" sz="1000" b="0" i="0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advanced-AI projects Accenture has already delivered</a:t>
            </a:r>
          </a:p>
        </p:txBody>
      </p:sp>
      <p:sp>
        <p:nvSpPr>
          <p:cNvPr id="204" name="Stat2"/>
          <p:cNvSpPr txBox="1"/>
          <p:nvPr/>
        </p:nvSpPr>
        <p:spPr>
          <a:xfrm>
            <a:off x="8016654" y="1400000"/>
            <a:ext cx="3627598" cy="980000"/>
          </a:xfrm>
          <a:prstGeom prst="roundRect">
            <a:avLst>
              <a:gd name="adj" fmla="val 10000"/>
            </a:avLst>
          </a:prstGeom>
          <a:solidFill>
            <a:srgbClr val="F4EDFB"/>
          </a:solidFill>
          <a:ln>
            <a:noFill/>
          </a:ln>
        </p:spPr>
        <p:txBody>
          <a:bodyPr wrap="square" lIns="146304" tIns="91440" rIns="146304" bIns="73152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2800" b="1" i="0" dirty="0">
                <a:solidFill>
                  <a:srgbClr val="A100FF"/>
                </a:solidFill>
                <a:latin typeface="Arial" pitchFamily="34" charset="0"/>
                <a:cs typeface="Arial" pitchFamily="34" charset="0"/>
              </a:rPr>
              <a:t>5-300 ms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buNone/>
            </a:pPr>
            <a:r>
              <a:rPr lang="en-IN" sz="1000" b="0" i="0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latency envelope an inline check must fit</a:t>
            </a:r>
          </a:p>
        </p:txBody>
      </p:sp>
      <p:sp>
        <p:nvSpPr>
          <p:cNvPr id="205" name="Narrative"/>
          <p:cNvSpPr txBox="1"/>
          <p:nvPr/>
        </p:nvSpPr>
        <p:spPr>
          <a:xfrm>
            <a:off x="361458" y="2560000"/>
            <a:ext cx="63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t">
            <a:norm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IN" sz="120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Enterprises put AI inside live customer, clinical and financial decisions. Oversight stayed post-hoc. Dashboards are reviewed after a user has acted on a confidently wrong answer, after compute has burned on avoidable rework, after a data-leaking response has left the building.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en-IN" sz="120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Three risks compound at the same moment, yet three teams own them and none holds a control point at the instant of response.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buNone/>
            </a:pPr>
            <a:r>
              <a:rPr lang="en-IN" sz="120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Regulation compounds it: the EU AI Act, ISO/IEC 42001 and India's DPDP Act require proof of what an AI system did, not a report a week later.</a:t>
            </a:r>
          </a:p>
        </p:txBody>
      </p:sp>
      <p:sp>
        <p:nvSpPr>
          <p:cNvPr id="206" name="Who"/>
          <p:cNvSpPr txBox="1"/>
          <p:nvPr/>
        </p:nvSpPr>
        <p:spPr>
          <a:xfrm>
            <a:off x="361458" y="4260000"/>
            <a:ext cx="6300000" cy="98000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</p:spPr>
        <p:txBody>
          <a:bodyPr wrap="square" lIns="155448" tIns="91440" rIns="155448" bIns="73152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460073"/>
                </a:solidFill>
                <a:latin typeface="Arial" pitchFamily="34" charset="0"/>
                <a:cs typeface="Arial" pitchFamily="34" charset="0"/>
              </a:rPr>
              <a:t>Who bears it</a:t>
            </a:r>
          </a:p>
          <a:p>
            <a:pPr algn="l">
              <a:lnSpc>
                <a:spcPct val="105000"/>
              </a:lnSpc>
              <a:spcBef>
                <a:spcPts val="250"/>
              </a:spcBef>
              <a:buNone/>
            </a:pPr>
            <a:r>
              <a:rPr lang="en-IN" sz="11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Customer acting on a wrong answer. Product owner defending unit economics. Risk and compliance proving control.</a:t>
            </a:r>
          </a:p>
        </p:txBody>
      </p:sp>
      <p:sp>
        <p:nvSpPr>
          <p:cNvPr id="207" name="Risk0"/>
          <p:cNvSpPr txBox="1"/>
          <p:nvPr/>
        </p:nvSpPr>
        <p:spPr>
          <a:xfrm>
            <a:off x="6861458" y="2560000"/>
            <a:ext cx="4782796" cy="800000"/>
          </a:xfrm>
          <a:prstGeom prst="roundRect">
            <a:avLst>
              <a:gd name="adj" fmla="val 10000"/>
            </a:avLst>
          </a:prstGeom>
          <a:solidFill>
            <a:srgbClr val="F4EDFB"/>
          </a:solidFill>
          <a:ln>
            <a:noFill/>
          </a:ln>
        </p:spPr>
        <p:txBody>
          <a:bodyPr wrap="square" lIns="155448" tIns="82296" rIns="155448" bIns="64008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A100FF"/>
                </a:solidFill>
                <a:latin typeface="Arial" pitchFamily="34" charset="0"/>
                <a:cs typeface="Arial" pitchFamily="34" charset="0"/>
              </a:rPr>
              <a:t>Performance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IN" sz="110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Confidently wrong. Model confidence is not calibrated to correctness.</a:t>
            </a:r>
          </a:p>
        </p:txBody>
      </p:sp>
      <p:sp>
        <p:nvSpPr>
          <p:cNvPr id="208" name="Risk1"/>
          <p:cNvSpPr txBox="1"/>
          <p:nvPr/>
        </p:nvSpPr>
        <p:spPr>
          <a:xfrm>
            <a:off x="6861458" y="3500000"/>
            <a:ext cx="4782796" cy="800000"/>
          </a:xfrm>
          <a:prstGeom prst="roundRect">
            <a:avLst>
              <a:gd name="adj" fmla="val 10000"/>
            </a:avLst>
          </a:prstGeom>
          <a:solidFill>
            <a:srgbClr val="F4EDFB"/>
          </a:solidFill>
          <a:ln>
            <a:noFill/>
          </a:ln>
        </p:spPr>
        <p:txBody>
          <a:bodyPr wrap="square" lIns="155448" tIns="82296" rIns="155448" bIns="64008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7500C0"/>
                </a:solidFill>
                <a:latin typeface="Arial" pitchFamily="34" charset="0"/>
                <a:cs typeface="Arial" pitchFamily="34" charset="0"/>
              </a:rPr>
              <a:t>Cost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IN" sz="110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Silent token bloat, retries and oversized model routing inflate unit economics.</a:t>
            </a:r>
          </a:p>
        </p:txBody>
      </p:sp>
      <p:sp>
        <p:nvSpPr>
          <p:cNvPr id="209" name="Risk2"/>
          <p:cNvSpPr txBox="1"/>
          <p:nvPr/>
        </p:nvSpPr>
        <p:spPr>
          <a:xfrm>
            <a:off x="6861458" y="4440000"/>
            <a:ext cx="4782796" cy="800000"/>
          </a:xfrm>
          <a:prstGeom prst="roundRect">
            <a:avLst>
              <a:gd name="adj" fmla="val 10000"/>
            </a:avLst>
          </a:prstGeom>
          <a:solidFill>
            <a:srgbClr val="F4EDFB"/>
          </a:solidFill>
          <a:ln>
            <a:noFill/>
          </a:ln>
        </p:spPr>
        <p:txBody>
          <a:bodyPr wrap="square" lIns="155448" tIns="82296" rIns="155448" bIns="64008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460073"/>
                </a:solidFill>
                <a:latin typeface="Arial" pitchFamily="34" charset="0"/>
                <a:cs typeface="Arial" pitchFamily="34" charset="0"/>
              </a:rPr>
              <a:t>Responsibility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IN" sz="110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Bias, unsafe output, PII leakage and prompt injection reach the user first.</a:t>
            </a:r>
          </a:p>
        </p:txBody>
      </p:sp>
      <p:sp>
        <p:nvSpPr>
          <p:cNvPr id="210" name="Gap"/>
          <p:cNvSpPr txBox="1"/>
          <p:nvPr/>
        </p:nvSpPr>
        <p:spPr>
          <a:xfrm>
            <a:off x="361458" y="5460000"/>
            <a:ext cx="11282796" cy="560000"/>
          </a:xfrm>
          <a:prstGeom prst="roundRect">
            <a:avLst>
              <a:gd name="adj" fmla="val 10000"/>
            </a:avLst>
          </a:prstGeom>
          <a:solidFill>
            <a:srgbClr val="F4EDFB"/>
          </a:solidFill>
          <a:ln>
            <a:noFill/>
          </a:ln>
        </p:spPr>
        <p:txBody>
          <a:bodyPr wrap="square" lIns="155448" tIns="45720" rIns="155448" bIns="4572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460073"/>
                </a:solidFill>
                <a:latin typeface="Arial" pitchFamily="34" charset="0"/>
                <a:cs typeface="Arial" pitchFamily="34" charset="0"/>
              </a:rPr>
              <a:t>The gap is not detection. It is detection fast enough, and cheap enough, to act before delivery.</a:t>
            </a:r>
          </a:p>
        </p:txBody>
      </p:sp>
      <p:sp>
        <p:nvSpPr>
          <p:cNvPr id="211" name="Src"/>
          <p:cNvSpPr txBox="1"/>
          <p:nvPr/>
        </p:nvSpPr>
        <p:spPr>
          <a:xfrm>
            <a:off x="361458" y="6120000"/>
            <a:ext cx="11282796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800" b="0" i="0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Sources: Accenture and AWS responsible AI research; Accenture FY25 and Q1 FY26 advanced-AI disclosures; published guardrail latency benchmarks.</a:t>
            </a: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40961" y="342685"/>
            <a:ext cx="11282796" cy="423125"/>
          </a:xfr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Proposed solution (200 words)</a:t>
            </a:r>
          </a:p>
        </p:txBody>
      </p:sp>
      <p:sp>
        <p:nvSpPr>
          <p:cNvPr id="212" name="Pos"/>
          <p:cNvSpPr txBox="1"/>
          <p:nvPr/>
        </p:nvSpPr>
        <p:spPr>
          <a:xfrm>
            <a:off x="361458" y="880000"/>
            <a:ext cx="11282796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600" b="1" i="0" dirty="0">
                <a:solidFill>
                  <a:srgbClr val="460073"/>
                </a:solidFill>
                <a:latin typeface="Arial" pitchFamily="34" charset="0"/>
                <a:cs typeface="Arial" pitchFamily="34" charset="0"/>
              </a:rPr>
              <a:t>ControlPlane Checker: </a:t>
            </a:r>
            <a:r>
              <a:rPr lang="en-IN" sz="1600" b="1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a model-agnostic sidecar verifying every AI response inline, inside a declared latency and cost budget.</a:t>
            </a:r>
          </a:p>
        </p:txBody>
      </p:sp>
      <p:sp>
        <p:nvSpPr>
          <p:cNvPr id="213" name="Tier0"/>
          <p:cNvSpPr txBox="1"/>
          <p:nvPr/>
        </p:nvSpPr>
        <p:spPr>
          <a:xfrm>
            <a:off x="361458" y="1430000"/>
            <a:ext cx="2693199" cy="1120000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</p:spPr>
        <p:txBody>
          <a:bodyPr wrap="square" lIns="137160" tIns="91440" rIns="137160" bIns="64008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Tier 0  ·  0-5 ms  ·  100% of traffic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950" b="0" i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Free signals: log-prob entropy, PII/NER scan, injection signatures, cost meter, RAG overlap. No extra model call.</a:t>
            </a:r>
          </a:p>
        </p:txBody>
      </p:sp>
      <p:sp>
        <p:nvSpPr>
          <p:cNvPr id="214" name="Tier1"/>
          <p:cNvSpPr txBox="1"/>
          <p:nvPr/>
        </p:nvSpPr>
        <p:spPr>
          <a:xfrm>
            <a:off x="3224657" y="1430000"/>
            <a:ext cx="2693199" cy="1120000"/>
          </a:xfrm>
          <a:prstGeom prst="roundRect">
            <a:avLst>
              <a:gd name="adj" fmla="val 10000"/>
            </a:avLst>
          </a:prstGeom>
          <a:solidFill>
            <a:srgbClr val="7500C0"/>
          </a:solidFill>
          <a:ln>
            <a:noFill/>
          </a:ln>
        </p:spPr>
        <p:txBody>
          <a:bodyPr wrap="square" lIns="137160" tIns="91440" rIns="137160" bIns="64008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Tier 1  ·  20-80 ms  ·  ~15%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950" b="0" i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NLI entailment plus distilled bias and safety classifiers. Fires only when Tier 0 uncertainty crosses threshold.</a:t>
            </a:r>
          </a:p>
        </p:txBody>
      </p:sp>
      <p:sp>
        <p:nvSpPr>
          <p:cNvPr id="215" name="Tier2"/>
          <p:cNvSpPr txBox="1"/>
          <p:nvPr/>
        </p:nvSpPr>
        <p:spPr>
          <a:xfrm>
            <a:off x="6087856" y="1430000"/>
            <a:ext cx="2693199" cy="1120000"/>
          </a:xfrm>
          <a:prstGeom prst="roundRect">
            <a:avLst>
              <a:gd name="adj" fmla="val 10000"/>
            </a:avLst>
          </a:prstGeom>
          <a:solidFill>
            <a:srgbClr val="460073"/>
          </a:solidFill>
          <a:ln>
            <a:noFill/>
          </a:ln>
        </p:spPr>
        <p:txBody>
          <a:bodyPr wrap="square" lIns="137160" tIns="91440" rIns="137160" bIns="64008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Tier 2  ·  300-800 ms  ·  ~2%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950" b="0" i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LLM-as-judge against a rubric, self-consistency sampling, retrieval-backed verification.</a:t>
            </a:r>
          </a:p>
        </p:txBody>
      </p:sp>
      <p:sp>
        <p:nvSpPr>
          <p:cNvPr id="216" name="Tier3"/>
          <p:cNvSpPr txBox="1"/>
          <p:nvPr/>
        </p:nvSpPr>
        <p:spPr>
          <a:xfrm>
            <a:off x="8951055" y="1430000"/>
            <a:ext cx="2693199" cy="1120000"/>
          </a:xfrm>
          <a:prstGeom prst="roundRect">
            <a:avLst>
              <a:gd name="adj" fmla="val 10000"/>
            </a:avLst>
          </a:prstGeom>
          <a:solidFill>
            <a:srgbClr val="4A4A4A"/>
          </a:solidFill>
          <a:ln>
            <a:noFill/>
          </a:ln>
        </p:spPr>
        <p:txBody>
          <a:bodyPr wrap="square" lIns="137160" tIns="91440" rIns="137160" bIns="64008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000" b="1" i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Tier 3  ·  Human  ·  &lt;0.5%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950" b="0" i="0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Escalation with a pre-filled context packet and recommended remediation.</a:t>
            </a:r>
          </a:p>
        </p:txBody>
      </p:sp>
      <p:sp>
        <p:nvSpPr>
          <p:cNvPr id="217" name="Decide"/>
          <p:cNvSpPr txBox="1"/>
          <p:nvPr/>
        </p:nvSpPr>
        <p:spPr>
          <a:xfrm>
            <a:off x="361458" y="2700000"/>
            <a:ext cx="5541398" cy="160000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</p:spPr>
        <p:txBody>
          <a:bodyPr wrap="square" lIns="155448" tIns="100584" rIns="155448" bIns="82296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460073"/>
                </a:solidFill>
                <a:latin typeface="Arial" pitchFamily="34" charset="0"/>
                <a:cs typeface="Arial" pitchFamily="34" charset="0"/>
              </a:rPr>
              <a:t>Decision, not just detection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1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Verdicts resolve on a risk by reversibility matrix, not block/allow. PASS. ANNOTATE with uncertainty markers and citations. REPAIR against retrieved evidence, far cheaper than human review. ESCALATE.</a:t>
            </a:r>
          </a:p>
        </p:txBody>
      </p:sp>
      <p:sp>
        <p:nvSpPr>
          <p:cNvPr id="218" name="Diff"/>
          <p:cNvSpPr txBox="1"/>
          <p:nvPr/>
        </p:nvSpPr>
        <p:spPr>
          <a:xfrm>
            <a:off x="6102856" y="2700000"/>
            <a:ext cx="5541398" cy="160000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</p:spPr>
        <p:txBody>
          <a:bodyPr wrap="square" lIns="155448" tIns="100584" rIns="155448" bIns="82296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300" b="1" i="0" dirty="0">
                <a:solidFill>
                  <a:srgbClr val="460073"/>
                </a:solidFill>
                <a:latin typeface="Arial" pitchFamily="34" charset="0"/>
                <a:cs typeface="Arial" pitchFamily="34" charset="0"/>
              </a:rPr>
              <a:t>Why it beats a dashboard</a:t>
            </a:r>
          </a:p>
          <a:p>
            <a:pPr marL="171450" indent="-171450" algn="l">
              <a:lnSpc>
                <a:spcPct val="105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en-IN" sz="11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Stream-time interception: sentence one is verified while sentence eight still generates, so perceived latency stays near zero.</a:t>
            </a:r>
          </a:p>
          <a:p>
            <a:pPr marL="171450" indent="-171450" algn="l">
              <a:lnSpc>
                <a:spcPct val="105000"/>
              </a:lnSpc>
              <a:spcBef>
                <a:spcPts val="250"/>
              </a:spcBef>
              <a:buFont typeface="Arial" pitchFamily="34" charset="0"/>
              <a:buChar char="•"/>
            </a:pPr>
            <a:r>
              <a:rPr lang="en-IN" sz="11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One decision across all three axes, with a live ROI meter: rupees of avoided loss against verification spend.</a:t>
            </a:r>
          </a:p>
          <a:p>
            <a:pPr marL="171450" indent="-171450" algn="l">
              <a:lnSpc>
                <a:spcPct val="105000"/>
              </a:lnSpc>
              <a:spcBef>
                <a:spcPts val="250"/>
              </a:spcBef>
              <a:buFont typeface="Arial" pitchFamily="34" charset="0"/>
              <a:buChar char="•"/>
            </a:pPr>
            <a:r>
              <a:rPr lang="en-IN" sz="11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Hash-chained audit ledger for EU AI Act, ISO/IEC 42001 and DPDP. Runs in client tenancy, any model, any cloud.</a:t>
            </a:r>
          </a:p>
        </p:txBody>
      </p:sp>
      <p:sp>
        <p:nvSpPr>
          <p:cNvPr id="219" name="Tgt0"/>
          <p:cNvSpPr txBox="1"/>
          <p:nvPr/>
        </p:nvSpPr>
        <p:spPr>
          <a:xfrm>
            <a:off x="361458" y="4500000"/>
            <a:ext cx="3627598" cy="700000"/>
          </a:xfrm>
          <a:prstGeom prst="roundRect">
            <a:avLst>
              <a:gd name="adj" fmla="val 10000"/>
            </a:avLst>
          </a:prstGeom>
          <a:solidFill>
            <a:srgbClr val="F4EDFB"/>
          </a:solidFill>
          <a:ln>
            <a:noFill/>
          </a:ln>
        </p:spPr>
        <p:txBody>
          <a:bodyPr wrap="square" lIns="146304" tIns="64008" rIns="146304" bIns="4572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800" b="1" i="0" dirty="0">
                <a:solidFill>
                  <a:srgbClr val="A100FF"/>
                </a:solidFill>
                <a:latin typeface="Arial" pitchFamily="34" charset="0"/>
                <a:cs typeface="Arial" pitchFamily="34" charset="0"/>
              </a:rPr>
              <a:t>&lt; 60 ms</a:t>
            </a:r>
          </a:p>
          <a:p>
            <a:pPr algn="l">
              <a:lnSpc>
                <a:spcPct val="95000"/>
              </a:lnSpc>
              <a:spcBef>
                <a:spcPts val="150"/>
              </a:spcBef>
              <a:buNone/>
            </a:pPr>
            <a:r>
              <a:rPr lang="en-IN" sz="950" b="0" i="0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added p95 latency, end to end</a:t>
            </a:r>
          </a:p>
        </p:txBody>
      </p:sp>
      <p:sp>
        <p:nvSpPr>
          <p:cNvPr id="220" name="Tgt1"/>
          <p:cNvSpPr txBox="1"/>
          <p:nvPr/>
        </p:nvSpPr>
        <p:spPr>
          <a:xfrm>
            <a:off x="4189056" y="4500000"/>
            <a:ext cx="3627598" cy="700000"/>
          </a:xfrm>
          <a:prstGeom prst="roundRect">
            <a:avLst>
              <a:gd name="adj" fmla="val 10000"/>
            </a:avLst>
          </a:prstGeom>
          <a:solidFill>
            <a:srgbClr val="F4EDFB"/>
          </a:solidFill>
          <a:ln>
            <a:noFill/>
          </a:ln>
        </p:spPr>
        <p:txBody>
          <a:bodyPr wrap="square" lIns="146304" tIns="64008" rIns="146304" bIns="4572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800" b="1" i="0" dirty="0">
                <a:solidFill>
                  <a:srgbClr val="A100FF"/>
                </a:solidFill>
                <a:latin typeface="Arial" pitchFamily="34" charset="0"/>
                <a:cs typeface="Arial" pitchFamily="34" charset="0"/>
              </a:rPr>
              <a:t>&gt; 90%</a:t>
            </a:r>
          </a:p>
          <a:p>
            <a:pPr algn="l">
              <a:lnSpc>
                <a:spcPct val="95000"/>
              </a:lnSpc>
              <a:spcBef>
                <a:spcPts val="150"/>
              </a:spcBef>
              <a:buNone/>
            </a:pPr>
            <a:r>
              <a:rPr lang="en-IN" sz="950" b="0" i="0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of injected failures caught before delivery</a:t>
            </a:r>
          </a:p>
        </p:txBody>
      </p:sp>
      <p:sp>
        <p:nvSpPr>
          <p:cNvPr id="221" name="Tgt2"/>
          <p:cNvSpPr txBox="1"/>
          <p:nvPr/>
        </p:nvSpPr>
        <p:spPr>
          <a:xfrm>
            <a:off x="8016654" y="4500000"/>
            <a:ext cx="3627598" cy="700000"/>
          </a:xfrm>
          <a:prstGeom prst="roundRect">
            <a:avLst>
              <a:gd name="adj" fmla="val 10000"/>
            </a:avLst>
          </a:prstGeom>
          <a:solidFill>
            <a:srgbClr val="F4EDFB"/>
          </a:solidFill>
          <a:ln>
            <a:noFill/>
          </a:ln>
        </p:spPr>
        <p:txBody>
          <a:bodyPr wrap="square" lIns="146304" tIns="64008" rIns="146304" bIns="4572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800" b="1" i="0" dirty="0">
                <a:solidFill>
                  <a:srgbClr val="A100FF"/>
                </a:solidFill>
                <a:latin typeface="Arial" pitchFamily="34" charset="0"/>
                <a:cs typeface="Arial" pitchFamily="34" charset="0"/>
              </a:rPr>
              <a:t>&lt; 3%</a:t>
            </a:r>
          </a:p>
          <a:p>
            <a:pPr algn="l">
              <a:lnSpc>
                <a:spcPct val="95000"/>
              </a:lnSpc>
              <a:spcBef>
                <a:spcPts val="150"/>
              </a:spcBef>
              <a:buNone/>
            </a:pPr>
            <a:r>
              <a:rPr lang="en-IN" sz="950" b="0" i="0" dirty="0">
                <a:solidFill>
                  <a:srgbClr val="6E6E6E"/>
                </a:solidFill>
                <a:latin typeface="Arial" pitchFamily="34" charset="0"/>
                <a:cs typeface="Arial" pitchFamily="34" charset="0"/>
              </a:rPr>
              <a:t>of the model's own token spend</a:t>
            </a:r>
          </a:p>
        </p:txBody>
      </p:sp>
      <p:sp>
        <p:nvSpPr>
          <p:cNvPr id="222" name="Commercial"/>
          <p:cNvSpPr txBox="1"/>
          <p:nvPr/>
        </p:nvSpPr>
        <p:spPr>
          <a:xfrm>
            <a:off x="361458" y="5440000"/>
            <a:ext cx="11282796" cy="560000"/>
          </a:xfrm>
          <a:prstGeom prst="roundRect">
            <a:avLst>
              <a:gd name="adj" fmla="val 10000"/>
            </a:avLst>
          </a:prstGeom>
          <a:solidFill>
            <a:srgbClr val="F4EDFB"/>
          </a:solidFill>
          <a:ln>
            <a:noFill/>
          </a:ln>
        </p:spPr>
        <p:txBody>
          <a:bodyPr wrap="square" lIns="155448" tIns="45720" rIns="155448" bIns="4572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460073"/>
                </a:solidFill>
                <a:latin typeface="Arial" pitchFamily="34" charset="0"/>
                <a:cs typeface="Arial" pitchFamily="34" charset="0"/>
              </a:rPr>
              <a:t>Managed service: industry policy packs, tunable false-block rate, priced per million verified requests.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00020" y="296965"/>
            <a:ext cx="11591959" cy="480276"/>
          </a:xfrm>
          <a:solidFill>
            <a:srgbClr val="A100FF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Video</a:t>
            </a:r>
            <a:endParaRPr lang="en-IN" sz="2000" b="1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223" name="Runsheet"/>
          <p:cNvSpPr txBox="1"/>
          <p:nvPr/>
        </p:nvSpPr>
        <p:spPr>
          <a:xfrm>
            <a:off x="361458" y="2400000"/>
            <a:ext cx="6300000" cy="195000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</p:spPr>
        <p:txBody>
          <a:bodyPr wrap="square" lIns="164592" tIns="109728" rIns="155448" bIns="82296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460073"/>
                </a:solidFill>
                <a:latin typeface="Arial" pitchFamily="34" charset="0"/>
                <a:cs typeface="Arial" pitchFamily="34" charset="0"/>
              </a:rPr>
              <a:t>What the video shows</a:t>
            </a:r>
          </a:p>
          <a:p>
            <a:pPr algn="l">
              <a:lnSpc>
                <a:spcPct val="105000"/>
              </a:lnSpc>
              <a:spcBef>
                <a:spcPts val="280"/>
              </a:spcBef>
              <a:buNone/>
            </a:pPr>
            <a:r>
              <a:rPr lang="en-IN" sz="1150" b="1" i="0" dirty="0">
                <a:solidFill>
                  <a:srgbClr val="A100FF"/>
                </a:solidFill>
                <a:latin typeface="Arial" pitchFamily="34" charset="0"/>
                <a:cs typeface="Arial" pitchFamily="34" charset="0"/>
              </a:rPr>
              <a:t>1.  </a:t>
            </a:r>
            <a:r>
              <a:rPr lang="en-IN" sz="11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The failure: an agent answers confidently, wrongly and expensively.</a:t>
            </a:r>
          </a:p>
          <a:p>
            <a:pPr algn="l">
              <a:lnSpc>
                <a:spcPct val="105000"/>
              </a:lnSpc>
              <a:spcBef>
                <a:spcPts val="280"/>
              </a:spcBef>
              <a:buNone/>
            </a:pPr>
            <a:r>
              <a:rPr lang="en-IN" sz="1150" b="1" i="0" dirty="0">
                <a:solidFill>
                  <a:srgbClr val="A100FF"/>
                </a:solidFill>
                <a:latin typeface="Arial" pitchFamily="34" charset="0"/>
                <a:cs typeface="Arial" pitchFamily="34" charset="0"/>
              </a:rPr>
              <a:t>2.  </a:t>
            </a:r>
            <a:r>
              <a:rPr lang="en-IN" sz="11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ControlPlane intercepts mid-stream, beside a live latency counter.</a:t>
            </a:r>
          </a:p>
          <a:p>
            <a:pPr algn="l">
              <a:lnSpc>
                <a:spcPct val="105000"/>
              </a:lnSpc>
              <a:spcBef>
                <a:spcPts val="280"/>
              </a:spcBef>
              <a:buNone/>
            </a:pPr>
            <a:r>
              <a:rPr lang="en-IN" sz="1150" b="1" i="0" dirty="0">
                <a:solidFill>
                  <a:srgbClr val="A100FF"/>
                </a:solidFill>
                <a:latin typeface="Arial" pitchFamily="34" charset="0"/>
                <a:cs typeface="Arial" pitchFamily="34" charset="0"/>
              </a:rPr>
              <a:t>3.  </a:t>
            </a:r>
            <a:r>
              <a:rPr lang="en-IN" sz="11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Three risk axes, four actions, one decision.</a:t>
            </a:r>
          </a:p>
          <a:p>
            <a:pPr algn="l">
              <a:lnSpc>
                <a:spcPct val="105000"/>
              </a:lnSpc>
              <a:spcBef>
                <a:spcPts val="280"/>
              </a:spcBef>
              <a:buNone/>
            </a:pPr>
            <a:r>
              <a:rPr lang="en-IN" sz="1150" b="1" i="0" dirty="0">
                <a:solidFill>
                  <a:srgbClr val="A100FF"/>
                </a:solidFill>
                <a:latin typeface="Arial" pitchFamily="34" charset="0"/>
                <a:cs typeface="Arial" pitchFamily="34" charset="0"/>
              </a:rPr>
              <a:t>4.  </a:t>
            </a:r>
            <a:r>
              <a:rPr lang="en-IN" sz="115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Assurance ROI meter and the matching audit-ledger entry.</a:t>
            </a:r>
          </a:p>
        </p:txBody>
      </p:sp>
      <p:sp>
        <p:nvSpPr>
          <p:cNvPr id="224" name="Lbl"/>
          <p:cNvSpPr txBox="1"/>
          <p:nvPr/>
        </p:nvSpPr>
        <p:spPr>
          <a:xfrm>
            <a:off x="6861458" y="2450000"/>
            <a:ext cx="4782796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Video link:</a:t>
            </a:r>
          </a:p>
        </p:txBody>
      </p:sp>
      <p:sp>
        <p:nvSpPr>
          <p:cNvPr id="225" name="Field"/>
          <p:cNvSpPr txBox="1"/>
          <p:nvPr/>
        </p:nvSpPr>
        <p:spPr>
          <a:xfrm>
            <a:off x="6861458" y="2800000"/>
            <a:ext cx="4782796" cy="50000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</p:spPr>
        <p:txBody>
          <a:bodyPr wrap="square" lIns="137160" tIns="45720" rIns="137160" bIns="4572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40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226" name="Lbl"/>
          <p:cNvSpPr txBox="1"/>
          <p:nvPr/>
        </p:nvSpPr>
        <p:spPr>
          <a:xfrm>
            <a:off x="6861458" y="3500000"/>
            <a:ext cx="4782796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400" b="1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Backup link:</a:t>
            </a:r>
          </a:p>
        </p:txBody>
      </p:sp>
      <p:sp>
        <p:nvSpPr>
          <p:cNvPr id="227" name="Field"/>
          <p:cNvSpPr txBox="1"/>
          <p:nvPr/>
        </p:nvSpPr>
        <p:spPr>
          <a:xfrm>
            <a:off x="6861458" y="3850000"/>
            <a:ext cx="4782796" cy="50000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</p:spPr>
        <p:txBody>
          <a:bodyPr wrap="square" lIns="137160" tIns="45720" rIns="137160" bIns="45720"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IN" sz="1400" b="0" i="0" dirty="0">
                <a:solidFill>
                  <a:srgbClr val="1A1A1A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5603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1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661</Words>
  <Application>Microsoft Office PowerPoint</Application>
  <PresentationFormat>Widescreen</PresentationFormat>
  <Paragraphs>75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Accenture 2025</vt:lpstr>
      <vt:lpstr>1_Titles</vt:lpstr>
      <vt:lpstr>Titles</vt:lpstr>
      <vt:lpstr>1_Office Theme</vt:lpstr>
      <vt:lpstr>1_Accenture 2025</vt:lpstr>
      <vt:lpstr>PowerPoint Presentation</vt:lpstr>
      <vt:lpstr>Team details</vt:lpstr>
      <vt:lpstr>Describe the problem statement (200 words)</vt:lpstr>
      <vt:lpstr>Proposed solution (200 words)</vt:lpstr>
      <vt:lpstr>Video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mayank goel</cp:lastModifiedBy>
  <cp:revision>4</cp:revision>
  <dcterms:created xsi:type="dcterms:W3CDTF">2026-07-24T04:09:52Z</dcterms:created>
  <dcterms:modified xsi:type="dcterms:W3CDTF">2026-08-16T13:10:15Z</dcterms:modified>
</cp:coreProperties>
</file>