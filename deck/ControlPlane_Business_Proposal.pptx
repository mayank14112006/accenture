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episode risk</c:v>
                </c:pt>
              </c:strCache>
            </c:strRef>
          </c:tx>
          <c:spPr>
            <a:solidFill>
              <a:srgbClr val="7500C0"/>
            </a:solidFill>
            <a:ln w="31750" cap="flat">
              <a:solidFill>
                <a:srgbClr val="7500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500C0"/>
              </a:solidFill>
              <a:ln w="9525" cap="flat">
                <a:solidFill>
                  <a:srgbClr val="7500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26</c:v>
                </c:pt>
                <c:pt idx="2">
                  <c:v>41</c:v>
                </c:pt>
                <c:pt idx="3">
                  <c:v>55</c:v>
                </c:pt>
                <c:pt idx="4">
                  <c:v>68</c:v>
                </c:pt>
                <c:pt idx="5">
                  <c:v>84</c:v>
                </c:pt>
                <c:pt idx="6">
                  <c:v>103.5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Episode budget (₹100k)</c:v>
                </c:pt>
              </c:strCache>
            </c:strRef>
          </c:tx>
          <c:spPr>
            <a:solidFill>
              <a:srgbClr val="C5221F"/>
            </a:solidFill>
            <a:ln w="31750" cap="flat">
              <a:solidFill>
                <a:srgbClr val="C522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5221F"/>
              </a:solidFill>
              <a:ln w="9525" cap="flat">
                <a:solidFill>
                  <a:srgbClr val="C522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DCE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A6E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F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4DCE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A6E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A6E7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7500C0"/>
            </a:solidFill>
            <a:effectLst/>
          </c:spPr>
          <c:invertIfNegative val="0"/>
          <c:dLbls>
            <c:numFmt formatCode="0.#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6007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Cost</c:v>
                  </c:pt>
                  <c:pt idx="1">
                    <c:v>Injection</c:v>
                  </c:pt>
                  <c:pt idx="2">
                    <c:v>Toxicity</c:v>
                  </c:pt>
                  <c:pt idx="3">
                    <c:v>Privacy</c:v>
                  </c:pt>
                  <c:pt idx="4">
                    <c:v>Grounding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96.4</c:v>
                </c:pt>
              </c:numCache>
            </c:numRef>
          </c:val>
        </c:ser>
        <c:dLbls>
          <c:numFmt formatCode="0.#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46007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4DCE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A6E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Cr / yr</c:v>
                </c:pt>
              </c:strCache>
            </c:strRef>
          </c:tx>
          <c:spPr>
            <a:solidFill>
              <a:srgbClr val="7500C0"/>
            </a:solidFill>
            <a:effectLst/>
          </c:spPr>
          <c:invertIfNegative val="0"/>
          <c:dLbls>
            <c:numFmt formatCode="₹0.0#&quot; Cr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6007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Avoided loss (floor)</c:v>
                  </c:pt>
                  <c:pt idx="1">
                    <c:v>All-in assurance cost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</c:v>
                </c:pt>
                <c:pt idx="1">
                  <c:v>0.25</c:v>
                </c:pt>
              </c:numCache>
            </c:numRef>
          </c:val>
        </c:ser>
        <c:dLbls>
          <c:numFmt formatCode="₹0.0#&quot; Cr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46007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DCE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A6E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reposition: response checking is commodity; the episode is ungoverned. Every right-panel number is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image" Target="../media/image-7-7.png"/><Relationship Id="rId9" Type="http://schemas.openxmlformats.org/officeDocument/2006/relationships/image" Target="../media/image-7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5029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INNOVATION CHALLENGE 2026  ·  ROUND 2  ·  PROBLEM TRACK 1 · CONTROLPLANE.AI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144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874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Business Proposal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4688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the </a:t>
            </a:r>
            <a:pPr indent="0" marL="0">
              <a:buNone/>
            </a:pPr>
            <a:r>
              <a:rPr lang="en-US" sz="14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</a:t>
            </a:r>
            <a:pPr indent="0" marL="0">
              <a:buNone/>
            </a:pPr>
            <a:r>
              <a:rPr lang="en-US" sz="14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the response - a rupee-denominated risk budget, claim provenance and an action gate across the whole AI task.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333756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33375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53896" y="333756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53896" y="33375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96312" y="333756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96312" y="33375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538728" y="333756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38728" y="33375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81144" y="333756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81144" y="33375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23560" y="333756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23560" y="33375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65976" y="333756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65976" y="33375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3794760"/>
            <a:ext cx="2340864" cy="960120"/>
          </a:xfrm>
          <a:prstGeom prst="roundRect">
            <a:avLst>
              <a:gd name="adj" fmla="val 5714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21" name="Image 0" descr="icons/FcDocu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77056"/>
            <a:ext cx="329184" cy="32918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23544" y="390448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39496" y="41879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detailed business proposal the brief requires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898648" y="3794760"/>
            <a:ext cx="2340864" cy="960120"/>
          </a:xfrm>
          <a:prstGeom prst="roundRect">
            <a:avLst>
              <a:gd name="adj" fmla="val 5714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25" name="Image 1" descr="icons/Fc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3877056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3410712" y="390448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3026664" y="41879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repo · gateway, console, 10-act demo, eval suite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385816" y="3794760"/>
            <a:ext cx="2340864" cy="960120"/>
          </a:xfrm>
          <a:prstGeom prst="roundRect">
            <a:avLst>
              <a:gd name="adj" fmla="val 5714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29" name="Image 2" descr="icons/FcBusinessm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3877056"/>
            <a:ext cx="329184" cy="32918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897880" y="390448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presentation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5513832" y="41879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+ live prototype, replay-first (offline-safe)</a:t>
            </a:r>
            <a:endParaRPr lang="en-US" sz="850" dirty="0"/>
          </a:p>
        </p:txBody>
      </p:sp>
      <p:sp>
        <p:nvSpPr>
          <p:cNvPr id="32" name="Text 27"/>
          <p:cNvSpPr txBox="1"/>
          <p:nvPr/>
        </p:nvSpPr>
        <p:spPr>
          <a:xfrm>
            <a:off x="411480" y="4937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Pluoton</a:t>
            </a:r>
            <a:pPr indent="0" marL="0">
              <a:buNone/>
            </a:pPr>
            <a:r>
              <a:rPr lang="en-US" sz="10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August 2026   ·   every figure measured on the prototype and reproduced by </a:t>
            </a:r>
            <a:pPr indent="0" marL="0">
              <a:buNone/>
            </a:pPr>
            <a:r>
              <a:rPr lang="en-US" sz="1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evals.run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411480" y="53492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concept selected to advance: a tiered Responsible AI Checker. Round 2 ships it, measures it, and adds the layer no incumbent governs - the episode.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11480" y="5870448"/>
            <a:ext cx="1408176" cy="731520"/>
          </a:xfrm>
          <a:prstGeom prst="roundRect">
            <a:avLst>
              <a:gd name="adj" fmla="val 7500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502920" y="59436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3,488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502920" y="6236208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eval records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1947672" y="5870448"/>
            <a:ext cx="1408176" cy="731520"/>
          </a:xfrm>
          <a:prstGeom prst="roundRect">
            <a:avLst>
              <a:gd name="adj" fmla="val 7500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2039112" y="59436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50" dirty="0"/>
          </a:p>
        </p:txBody>
      </p:sp>
      <p:sp>
        <p:nvSpPr>
          <p:cNvPr id="39" name="Text 34"/>
          <p:cNvSpPr txBox="1"/>
          <p:nvPr/>
        </p:nvSpPr>
        <p:spPr>
          <a:xfrm>
            <a:off x="2039112" y="6236208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700" dirty="0"/>
          </a:p>
        </p:txBody>
      </p:sp>
      <p:sp>
        <p:nvSpPr>
          <p:cNvPr id="40" name="Shape 35"/>
          <p:cNvSpPr/>
          <p:nvPr/>
        </p:nvSpPr>
        <p:spPr>
          <a:xfrm>
            <a:off x="3483864" y="5870448"/>
            <a:ext cx="1408176" cy="731520"/>
          </a:xfrm>
          <a:prstGeom prst="roundRect">
            <a:avLst>
              <a:gd name="adj" fmla="val 7500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3575304" y="59436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+ 3</a:t>
            </a:r>
            <a:endParaRPr lang="en-US" sz="1250" dirty="0"/>
          </a:p>
        </p:txBody>
      </p:sp>
      <p:sp>
        <p:nvSpPr>
          <p:cNvPr id="42" name="Text 37"/>
          <p:cNvSpPr txBox="1"/>
          <p:nvPr/>
        </p:nvSpPr>
        <p:spPr>
          <a:xfrm>
            <a:off x="3575304" y="6236208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packs · jurisdictions</a:t>
            </a:r>
            <a:endParaRPr lang="en-US" sz="700" dirty="0"/>
          </a:p>
        </p:txBody>
      </p:sp>
      <p:sp>
        <p:nvSpPr>
          <p:cNvPr id="43" name="Shape 38"/>
          <p:cNvSpPr/>
          <p:nvPr/>
        </p:nvSpPr>
        <p:spPr>
          <a:xfrm>
            <a:off x="5020056" y="5870448"/>
            <a:ext cx="1408176" cy="731520"/>
          </a:xfrm>
          <a:prstGeom prst="roundRect">
            <a:avLst>
              <a:gd name="adj" fmla="val 7500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5111496" y="59436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acts</a:t>
            </a:r>
            <a:endParaRPr lang="en-US" sz="1250" dirty="0"/>
          </a:p>
        </p:txBody>
      </p:sp>
      <p:sp>
        <p:nvSpPr>
          <p:cNvPr id="45" name="Text 40"/>
          <p:cNvSpPr txBox="1"/>
          <p:nvPr/>
        </p:nvSpPr>
        <p:spPr>
          <a:xfrm>
            <a:off x="5111496" y="6236208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scripted demo</a:t>
            </a:r>
            <a:endParaRPr lang="en-US" sz="700" dirty="0"/>
          </a:p>
        </p:txBody>
      </p:sp>
      <p:sp>
        <p:nvSpPr>
          <p:cNvPr id="46" name="Shape 41"/>
          <p:cNvSpPr/>
          <p:nvPr/>
        </p:nvSpPr>
        <p:spPr>
          <a:xfrm>
            <a:off x="6556248" y="5870448"/>
            <a:ext cx="1408176" cy="731520"/>
          </a:xfrm>
          <a:prstGeom prst="roundRect">
            <a:avLst>
              <a:gd name="adj" fmla="val 7500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6647688" y="59436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cmd</a:t>
            </a:r>
            <a:endParaRPr lang="en-US" sz="1250" dirty="0"/>
          </a:p>
        </p:txBody>
      </p:sp>
      <p:sp>
        <p:nvSpPr>
          <p:cNvPr id="48" name="Text 43"/>
          <p:cNvSpPr txBox="1"/>
          <p:nvPr/>
        </p:nvSpPr>
        <p:spPr>
          <a:xfrm>
            <a:off x="6647688" y="6236208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</a:t>
            </a:r>
            <a:endParaRPr lang="en-US" sz="700" dirty="0"/>
          </a:p>
        </p:txBody>
      </p:sp>
      <p:sp>
        <p:nvSpPr>
          <p:cNvPr id="49" name="Shape 44"/>
          <p:cNvSpPr/>
          <p:nvPr/>
        </p:nvSpPr>
        <p:spPr>
          <a:xfrm>
            <a:off x="8092440" y="502920"/>
            <a:ext cx="3685032" cy="5852160"/>
          </a:xfrm>
          <a:prstGeom prst="roundRect">
            <a:avLst>
              <a:gd name="adj" fmla="val 1489"/>
            </a:avLst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8321040" y="7498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WORKING PROTOTYPE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8321040" y="1060704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8485632" y="113385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41/41</a:t>
            </a:r>
            <a:endParaRPr lang="en-US" sz="2500" dirty="0"/>
          </a:p>
        </p:txBody>
      </p:sp>
      <p:sp>
        <p:nvSpPr>
          <p:cNvPr id="53" name="Text 48"/>
          <p:cNvSpPr txBox="1"/>
          <p:nvPr/>
        </p:nvSpPr>
        <p:spPr>
          <a:xfrm>
            <a:off x="8485632" y="15910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tainted irreversible actions held before execution - 0/47 false holds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8321040" y="2276856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8485632" y="23500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96.4-100%</a:t>
            </a:r>
            <a:endParaRPr lang="en-US" sz="2500" dirty="0"/>
          </a:p>
        </p:txBody>
      </p:sp>
      <p:sp>
        <p:nvSpPr>
          <p:cNvPr id="56" name="Text 51"/>
          <p:cNvSpPr txBox="1"/>
          <p:nvPr/>
        </p:nvSpPr>
        <p:spPr>
          <a:xfrm>
            <a:off x="8485632" y="280720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per risk category, with 95% confidence intervals</a:t>
            </a:r>
            <a:endParaRPr lang="en-US" sz="950" dirty="0"/>
          </a:p>
        </p:txBody>
      </p:sp>
      <p:sp>
        <p:nvSpPr>
          <p:cNvPr id="57" name="Shape 52"/>
          <p:cNvSpPr/>
          <p:nvPr/>
        </p:nvSpPr>
        <p:spPr>
          <a:xfrm>
            <a:off x="8321040" y="3493008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8485632" y="35661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 ms</a:t>
            </a:r>
            <a:endParaRPr lang="en-US" sz="2500" dirty="0"/>
          </a:p>
        </p:txBody>
      </p:sp>
      <p:sp>
        <p:nvSpPr>
          <p:cNvPr id="59" name="Text 54"/>
          <p:cNvSpPr txBox="1"/>
          <p:nvPr/>
        </p:nvSpPr>
        <p:spPr>
          <a:xfrm>
            <a:off x="8485632" y="40233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added latency per request · 108 req/s per instance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8321040" y="470916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8485632" y="47823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4.8×</a:t>
            </a:r>
            <a:endParaRPr lang="en-US" sz="2500" dirty="0"/>
          </a:p>
        </p:txBody>
      </p:sp>
      <p:sp>
        <p:nvSpPr>
          <p:cNvPr id="62" name="Text 57"/>
          <p:cNvSpPr txBox="1"/>
          <p:nvPr/>
        </p:nvSpPr>
        <p:spPr>
          <a:xfrm>
            <a:off x="8485632" y="52395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floor from remediation alone - before any regulatory term</a:t>
            </a:r>
            <a:endParaRPr lang="en-US" sz="950" dirty="0"/>
          </a:p>
        </p:txBody>
      </p:sp>
      <p:sp>
        <p:nvSpPr>
          <p:cNvPr id="63" name="Text 58"/>
          <p:cNvSpPr txBox="1"/>
          <p:nvPr/>
        </p:nvSpPr>
        <p:spPr>
          <a:xfrm>
            <a:off x="8321040" y="5989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· console · demo · evals - all in the public repository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600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74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4846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- eight sections plus appendix; 02 to 08 are the brief's required proposal spec, in order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363626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7" name="Image 0" descr="icons/FcDocu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26464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69848" y="1435608"/>
            <a:ext cx="2310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938528"/>
            <a:ext cx="3270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→ Round 2 continuity, the mandate, stated assumptions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2414016"/>
            <a:ext cx="3270504" cy="10058"/>
          </a:xfrm>
          <a:prstGeom prst="rect">
            <a:avLst/>
          </a:prstGeom>
          <a:solidFill>
            <a:srgbClr val="E4DCE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2468880"/>
            <a:ext cx="3270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R1 claims reconciled - every one beaten or made precise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270504" y="1481328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2F2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270504" y="14813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p.3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276344" y="1280160"/>
            <a:ext cx="3636264" cy="1481328"/>
          </a:xfrm>
          <a:prstGeom prst="roundRect">
            <a:avLst>
              <a:gd name="adj" fmla="val 3704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15" name="Image 1" descr="icons/FcHighPrio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648" y="1426464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34712" y="1435608"/>
            <a:ext cx="2310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framing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459224" y="1938528"/>
            <a:ext cx="3270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is commodity; compounding episode risk is ungoverned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459224" y="2414016"/>
            <a:ext cx="3270504" cy="10058"/>
          </a:xfrm>
          <a:prstGeom prst="rect">
            <a:avLst/>
          </a:prstGeom>
          <a:solidFill>
            <a:srgbClr val="E4DCE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459224" y="2468880"/>
            <a:ext cx="3270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Exhibit: compounding-risk curve · 4 incident stats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7135368" y="1481328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135368" y="14813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p.4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8141208" y="1280160"/>
            <a:ext cx="3636264" cy="1481328"/>
          </a:xfrm>
          <a:prstGeom prst="roundRect">
            <a:avLst>
              <a:gd name="adj" fmla="val 3704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23" name="Image 2" descr="icons/FcFlow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512" y="1426464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799576" y="1435608"/>
            <a:ext cx="2310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design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8324088" y="1938528"/>
            <a:ext cx="3270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budget in ₹ · claim taint · action gate - over a policy-driven gateway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8324088" y="2414016"/>
            <a:ext cx="3270504" cy="10058"/>
          </a:xfrm>
          <a:prstGeom prst="rect">
            <a:avLst/>
          </a:prstGeom>
          <a:solidFill>
            <a:srgbClr val="E4DCE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324088" y="2468880"/>
            <a:ext cx="3270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Exhibit: 7-step pipeline · tier ladder · 6 decision outcomes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11000232" y="1481328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11000232" y="14813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p.5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411480" y="2962656"/>
            <a:ext cx="3636264" cy="1481328"/>
          </a:xfrm>
          <a:prstGeom prst="roundRect">
            <a:avLst>
              <a:gd name="adj" fmla="val 3704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31" name="Image 3" descr="icons/FcConferenceCa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108960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069848" y="3118104"/>
            <a:ext cx="2310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594360" y="3621024"/>
            <a:ext cx="3270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+ CRO buyer; three governed lanes with measured proof per lane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594360" y="4096512"/>
            <a:ext cx="3270504" cy="10058"/>
          </a:xfrm>
          <a:prstGeom prst="rect">
            <a:avLst/>
          </a:prstGeom>
          <a:solidFill>
            <a:srgbClr val="E4DCEF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594360" y="4151376"/>
            <a:ext cx="3270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Exhibit: recall bar chart · 0 false flags · 43/43 abstentions</a:t>
            </a:r>
            <a:endParaRPr lang="en-US" sz="750" dirty="0"/>
          </a:p>
        </p:txBody>
      </p:sp>
      <p:sp>
        <p:nvSpPr>
          <p:cNvPr id="36" name="Shape 30"/>
          <p:cNvSpPr/>
          <p:nvPr/>
        </p:nvSpPr>
        <p:spPr>
          <a:xfrm>
            <a:off x="3270504" y="316382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3270504" y="31638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p.6</a:t>
            </a:r>
            <a:endParaRPr lang="en-US" sz="750" dirty="0"/>
          </a:p>
        </p:txBody>
      </p:sp>
      <p:sp>
        <p:nvSpPr>
          <p:cNvPr id="38" name="Shape 32"/>
          <p:cNvSpPr/>
          <p:nvPr/>
        </p:nvSpPr>
        <p:spPr>
          <a:xfrm>
            <a:off x="4276344" y="2962656"/>
            <a:ext cx="3636264" cy="1481328"/>
          </a:xfrm>
          <a:prstGeom prst="roundRect">
            <a:avLst>
              <a:gd name="adj" fmla="val 3704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39" name="Image 4" descr="icons/FcCombo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648" y="3108960"/>
            <a:ext cx="402336" cy="40233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4934712" y="3118104"/>
            <a:ext cx="2310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&amp; impact</a:t>
            </a:r>
            <a:endParaRPr lang="en-US" sz="1250" dirty="0"/>
          </a:p>
        </p:txBody>
      </p:sp>
      <p:sp>
        <p:nvSpPr>
          <p:cNvPr id="41" name="Text 34"/>
          <p:cNvSpPr txBox="1"/>
          <p:nvPr/>
        </p:nvSpPr>
        <p:spPr>
          <a:xfrm>
            <a:off x="4459224" y="3621024"/>
            <a:ext cx="3270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4.8× ROI floor, scenario band shown separately, 0.04% unit economics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459224" y="4096512"/>
            <a:ext cx="3270504" cy="10058"/>
          </a:xfrm>
          <a:prstGeom prst="rect">
            <a:avLst/>
          </a:prstGeom>
          <a:solidFill>
            <a:srgbClr val="E4DCEF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4459224" y="4151376"/>
            <a:ext cx="3270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Exhibit: ROI chart · assumption stack · 5 unit-economics KPIs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7135368" y="316382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7135368" y="31638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p.7</a:t>
            </a:r>
            <a:endParaRPr lang="en-US" sz="750" dirty="0"/>
          </a:p>
        </p:txBody>
      </p:sp>
      <p:sp>
        <p:nvSpPr>
          <p:cNvPr id="46" name="Shape 39"/>
          <p:cNvSpPr/>
          <p:nvPr/>
        </p:nvSpPr>
        <p:spPr>
          <a:xfrm>
            <a:off x="8141208" y="2962656"/>
            <a:ext cx="3636264" cy="1481328"/>
          </a:xfrm>
          <a:prstGeom prst="roundRect">
            <a:avLst>
              <a:gd name="adj" fmla="val 3704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47" name="Image 5" descr="icons/Fc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7512" y="3108960"/>
            <a:ext cx="402336" cy="402336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799576" y="3118104"/>
            <a:ext cx="2310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49" name="Text 41"/>
          <p:cNvSpPr txBox="1"/>
          <p:nvPr/>
        </p:nvSpPr>
        <p:spPr>
          <a:xfrm>
            <a:off x="8324088" y="3621024"/>
            <a:ext cx="3270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Land-expand-run on Accenture's delivery motion; the competitive map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8324088" y="4096512"/>
            <a:ext cx="3270504" cy="10058"/>
          </a:xfrm>
          <a:prstGeom prst="rect">
            <a:avLst/>
          </a:prstGeom>
          <a:solidFill>
            <a:srgbClr val="E4DCEF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8324088" y="4151376"/>
            <a:ext cx="3270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Exhibit: land-expand-run flow · competitive 2×2 matrix</a:t>
            </a:r>
            <a:endParaRPr lang="en-US" sz="750" dirty="0"/>
          </a:p>
        </p:txBody>
      </p:sp>
      <p:sp>
        <p:nvSpPr>
          <p:cNvPr id="52" name="Shape 44"/>
          <p:cNvSpPr/>
          <p:nvPr/>
        </p:nvSpPr>
        <p:spPr>
          <a:xfrm>
            <a:off x="11000232" y="316382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11000232" y="31638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p.8</a:t>
            </a:r>
            <a:endParaRPr lang="en-US" sz="750" dirty="0"/>
          </a:p>
        </p:txBody>
      </p:sp>
      <p:sp>
        <p:nvSpPr>
          <p:cNvPr id="54" name="Shape 46"/>
          <p:cNvSpPr/>
          <p:nvPr/>
        </p:nvSpPr>
        <p:spPr>
          <a:xfrm>
            <a:off x="411480" y="4645152"/>
            <a:ext cx="3636264" cy="1481328"/>
          </a:xfrm>
          <a:prstGeom prst="roundRect">
            <a:avLst>
              <a:gd name="adj" fmla="val 3704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55" name="Image 6" descr="icons/FcCalend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" y="4791456"/>
            <a:ext cx="402336" cy="402336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1069848" y="4800600"/>
            <a:ext cx="2310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</a:t>
            </a:r>
            <a:endParaRPr lang="en-US" sz="1250" dirty="0"/>
          </a:p>
        </p:txBody>
      </p:sp>
      <p:sp>
        <p:nvSpPr>
          <p:cNvPr id="57" name="Text 48"/>
          <p:cNvSpPr txBox="1"/>
          <p:nvPr/>
        </p:nvSpPr>
        <p:spPr>
          <a:xfrm>
            <a:off x="594360" y="5303520"/>
            <a:ext cx="3270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layer live from day zero; phases gate enforcement authority</a:t>
            </a:r>
            <a:endParaRPr lang="en-US" sz="950" dirty="0"/>
          </a:p>
        </p:txBody>
      </p:sp>
      <p:sp>
        <p:nvSpPr>
          <p:cNvPr id="58" name="Shape 49"/>
          <p:cNvSpPr/>
          <p:nvPr/>
        </p:nvSpPr>
        <p:spPr>
          <a:xfrm>
            <a:off x="594360" y="5779008"/>
            <a:ext cx="3270504" cy="10058"/>
          </a:xfrm>
          <a:prstGeom prst="rect">
            <a:avLst/>
          </a:prstGeom>
          <a:solidFill>
            <a:srgbClr val="E4DCEF"/>
          </a:solidFill>
          <a:ln/>
        </p:spPr>
      </p:sp>
      <p:sp>
        <p:nvSpPr>
          <p:cNvPr id="59" name="Text 50"/>
          <p:cNvSpPr txBox="1"/>
          <p:nvPr/>
        </p:nvSpPr>
        <p:spPr>
          <a:xfrm>
            <a:off x="594360" y="5833872"/>
            <a:ext cx="3270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Exhibit: 18-month gantt · 4 contract-grade milestones</a:t>
            </a:r>
            <a:endParaRPr lang="en-US" sz="750" dirty="0"/>
          </a:p>
        </p:txBody>
      </p:sp>
      <p:sp>
        <p:nvSpPr>
          <p:cNvPr id="60" name="Shape 51"/>
          <p:cNvSpPr/>
          <p:nvPr/>
        </p:nvSpPr>
        <p:spPr>
          <a:xfrm>
            <a:off x="3270504" y="484632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61" name="Text 52"/>
          <p:cNvSpPr txBox="1"/>
          <p:nvPr/>
        </p:nvSpPr>
        <p:spPr>
          <a:xfrm>
            <a:off x="3270504" y="4846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p.9</a:t>
            </a:r>
            <a:endParaRPr lang="en-US" sz="750" dirty="0"/>
          </a:p>
        </p:txBody>
      </p:sp>
      <p:sp>
        <p:nvSpPr>
          <p:cNvPr id="62" name="Shape 53"/>
          <p:cNvSpPr/>
          <p:nvPr/>
        </p:nvSpPr>
        <p:spPr>
          <a:xfrm>
            <a:off x="4276344" y="4645152"/>
            <a:ext cx="3636264" cy="1481328"/>
          </a:xfrm>
          <a:prstGeom prst="roundRect">
            <a:avLst>
              <a:gd name="adj" fmla="val 3704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63" name="Image 7" descr="icons/FcInspecti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2648" y="4791456"/>
            <a:ext cx="402336" cy="402336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4934712" y="4800600"/>
            <a:ext cx="2310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&amp; mitigations</a:t>
            </a:r>
            <a:endParaRPr lang="en-US" sz="1250" dirty="0"/>
          </a:p>
        </p:txBody>
      </p:sp>
      <p:sp>
        <p:nvSpPr>
          <p:cNvPr id="65" name="Text 55"/>
          <p:cNvSpPr txBox="1"/>
          <p:nvPr/>
        </p:nvSpPr>
        <p:spPr>
          <a:xfrm>
            <a:off x="4459224" y="5303520"/>
            <a:ext cx="3270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risks, each countermeasure already shipped - plus stated scope</a:t>
            </a:r>
            <a:endParaRPr lang="en-US" sz="950" dirty="0"/>
          </a:p>
        </p:txBody>
      </p:sp>
      <p:sp>
        <p:nvSpPr>
          <p:cNvPr id="66" name="Shape 56"/>
          <p:cNvSpPr/>
          <p:nvPr/>
        </p:nvSpPr>
        <p:spPr>
          <a:xfrm>
            <a:off x="4459224" y="5779008"/>
            <a:ext cx="3270504" cy="10058"/>
          </a:xfrm>
          <a:prstGeom prst="rect">
            <a:avLst/>
          </a:prstGeom>
          <a:solidFill>
            <a:srgbClr val="E4DCEF"/>
          </a:solidFill>
          <a:ln/>
        </p:spPr>
      </p:sp>
      <p:sp>
        <p:nvSpPr>
          <p:cNvPr id="67" name="Text 57"/>
          <p:cNvSpPr txBox="1"/>
          <p:nvPr/>
        </p:nvSpPr>
        <p:spPr>
          <a:xfrm>
            <a:off x="4459224" y="5833872"/>
            <a:ext cx="3270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Exhibit: residual-risk register · 3 verification commands</a:t>
            </a:r>
            <a:endParaRPr lang="en-US" sz="750" dirty="0"/>
          </a:p>
        </p:txBody>
      </p:sp>
      <p:sp>
        <p:nvSpPr>
          <p:cNvPr id="68" name="Shape 58"/>
          <p:cNvSpPr/>
          <p:nvPr/>
        </p:nvSpPr>
        <p:spPr>
          <a:xfrm>
            <a:off x="7135368" y="484632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69" name="Text 59"/>
          <p:cNvSpPr txBox="1"/>
          <p:nvPr/>
        </p:nvSpPr>
        <p:spPr>
          <a:xfrm>
            <a:off x="7135368" y="4846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p.10</a:t>
            </a:r>
            <a:endParaRPr lang="en-US" sz="750" dirty="0"/>
          </a:p>
        </p:txBody>
      </p:sp>
      <p:sp>
        <p:nvSpPr>
          <p:cNvPr id="70" name="Shape 60"/>
          <p:cNvSpPr/>
          <p:nvPr/>
        </p:nvSpPr>
        <p:spPr>
          <a:xfrm>
            <a:off x="8141208" y="4645152"/>
            <a:ext cx="363626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71" name="Image 8" descr="icons/FcSurv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7512" y="4791456"/>
            <a:ext cx="402336" cy="402336"/>
          </a:xfrm>
          <a:prstGeom prst="rect">
            <a:avLst/>
          </a:prstGeom>
        </p:spPr>
      </p:pic>
      <p:sp>
        <p:nvSpPr>
          <p:cNvPr id="72" name="Text 61"/>
          <p:cNvSpPr txBox="1"/>
          <p:nvPr/>
        </p:nvSpPr>
        <p:spPr>
          <a:xfrm>
            <a:off x="8799576" y="4800600"/>
            <a:ext cx="2310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50" dirty="0"/>
          </a:p>
        </p:txBody>
      </p:sp>
      <p:sp>
        <p:nvSpPr>
          <p:cNvPr id="73" name="Text 62"/>
          <p:cNvSpPr txBox="1"/>
          <p:nvPr/>
        </p:nvSpPr>
        <p:spPr>
          <a:xfrm>
            <a:off x="8324088" y="5303520"/>
            <a:ext cx="3270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in this deck, its source file, and how to reproduce it</a:t>
            </a:r>
            <a:endParaRPr lang="en-US" sz="950" dirty="0"/>
          </a:p>
        </p:txBody>
      </p:sp>
      <p:sp>
        <p:nvSpPr>
          <p:cNvPr id="74" name="Shape 63"/>
          <p:cNvSpPr/>
          <p:nvPr/>
        </p:nvSpPr>
        <p:spPr>
          <a:xfrm>
            <a:off x="8324088" y="5779008"/>
            <a:ext cx="3270504" cy="10058"/>
          </a:xfrm>
          <a:prstGeom prst="rect">
            <a:avLst/>
          </a:prstGeom>
          <a:solidFill>
            <a:srgbClr val="E4DCEF"/>
          </a:solidFill>
          <a:ln/>
        </p:spPr>
      </p:sp>
      <p:sp>
        <p:nvSpPr>
          <p:cNvPr id="75" name="Text 64"/>
          <p:cNvSpPr txBox="1"/>
          <p:nvPr/>
        </p:nvSpPr>
        <p:spPr>
          <a:xfrm>
            <a:off x="8324088" y="5833872"/>
            <a:ext cx="3270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eval table with CIs · repro commands · assumption register</a:t>
            </a:r>
            <a:endParaRPr lang="en-US" sz="750" dirty="0"/>
          </a:p>
        </p:txBody>
      </p:sp>
      <p:sp>
        <p:nvSpPr>
          <p:cNvPr id="76" name="Shape 65"/>
          <p:cNvSpPr/>
          <p:nvPr/>
        </p:nvSpPr>
        <p:spPr>
          <a:xfrm>
            <a:off x="11000232" y="484632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2F2F5"/>
          </a:solidFill>
          <a:ln/>
        </p:spPr>
      </p:sp>
      <p:sp>
        <p:nvSpPr>
          <p:cNvPr id="77" name="Text 66"/>
          <p:cNvSpPr txBox="1"/>
          <p:nvPr/>
        </p:nvSpPr>
        <p:spPr>
          <a:xfrm>
            <a:off x="11000232" y="4846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11</a:t>
            </a:r>
            <a:endParaRPr lang="en-US" sz="750" dirty="0"/>
          </a:p>
        </p:txBody>
      </p:sp>
      <p:sp>
        <p:nvSpPr>
          <p:cNvPr id="78" name="Text 67"/>
          <p:cNvSpPr txBox="1"/>
          <p:nvPr/>
        </p:nvSpPr>
        <p:spPr>
          <a:xfrm>
            <a:off x="411480" y="6144768"/>
            <a:ext cx="11365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Brief-required core (sections 02-08, tinted): </a:t>
            </a:r>
            <a:pPr indent="0" marL="0">
              <a:buNone/>
            </a:pPr>
            <a:r>
              <a:rPr lang="en-US" sz="10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framing · solution design · target users · business case and impact · a phased roadmap · key risks with mitigations - exactly the deliverable specification of the Round 2 problem statement.</a:t>
            </a:r>
            <a:endParaRPr lang="en-US" sz="1000" dirty="0"/>
          </a:p>
        </p:txBody>
      </p:sp>
      <p:sp>
        <p:nvSpPr>
          <p:cNvPr id="79" name="Text 68"/>
          <p:cNvSpPr txBox="1"/>
          <p:nvPr/>
        </p:nvSpPr>
        <p:spPr>
          <a:xfrm>
            <a:off x="411480" y="65105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mapped 1:1 onto “What Round 2 Asks You to Deliver”, AIC 2026 Round 2 problem statement.</a:t>
            </a:r>
            <a:endParaRPr lang="en-US" sz="750" dirty="0"/>
          </a:p>
        </p:txBody>
      </p:sp>
      <p:sp>
        <p:nvSpPr>
          <p:cNvPr id="80" name="Text 69"/>
          <p:cNvSpPr txBox="1"/>
          <p:nvPr/>
        </p:nvSpPr>
        <p:spPr>
          <a:xfrm>
            <a:off x="8897112" y="6510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Detailed Business Proposal ·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600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74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4846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prototype first, measured it, and wrote this business case on the results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98932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7" name="Image 0" descr="icons/FcPositiveDyna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990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1417320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PROMISED → ROUND 2 MEASURED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00784"/>
          <a:ext cx="56235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154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600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 1 claim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600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 2 evidence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Tiered Tier 0-3 checker, inline, real-time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80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shipped - deterministic → small models → LLM judge → human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60 ms added latency (Tier-0 target)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80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beaten - 12.6 ms p50 / 20.3 ms p95, full lite ensemble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90% of injected failures caught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80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beaten - 96.4-100% recall per category, with 95% CIs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3% of model token spend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80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beaten - 0.04% of model spend under load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“Real-time streaming interception”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made precise: sentence-buffered release, PII masked pre-wire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 / responsibility guarantees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80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hardened - bias stays annotate-only, structurally enforced + regression-tested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94360" y="404164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scale: 53 tests · 3,488-record eval set · 10-act demo · React operator console · one-command Docker run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6675120" y="1280160"/>
            <a:ext cx="5102352" cy="3063240"/>
          </a:xfrm>
          <a:prstGeom prst="roundRect">
            <a:avLst>
              <a:gd name="adj" fmla="val 1791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12" name="Image 1" descr="icons/FcRu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9903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58000" y="141732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ASSUMPTIONS - BRIEF PARAMETERS, ADAPTED FREELY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6858000" y="1755648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858000" y="17556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7973568" y="1773936"/>
            <a:ext cx="3593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AI lanes: customer support · internal copilot · regulated decision-support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858000" y="2395728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858000" y="23957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2.1M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7973568" y="2414016"/>
            <a:ext cx="3593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per year (~40,000/week combined) - the brief's own volume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858000" y="3035808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0" y="303580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973568" y="3054096"/>
            <a:ext cx="3593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well-governed and loosely governed data sources feed the lanes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858000" y="3675888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858000" y="367588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7973568" y="3694176"/>
            <a:ext cx="3593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 consumed via API - input/output-layer inspection only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11480" y="4526280"/>
            <a:ext cx="11365992" cy="868680"/>
          </a:xfrm>
          <a:prstGeom prst="roundRect">
            <a:avLst>
              <a:gd name="adj" fmla="val 6316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94360" y="464515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since Round 1:  </a:t>
            </a:r>
            <a:pPr indent="0" marL="0">
              <a:buNone/>
            </a:pPr>
            <a:r>
              <a:rPr lang="en-US" sz="10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response checking became commodity - leading platforms ship sub-200 ms guardrails. We kept ours, stopped selling it as the innovation, and moved the differentiator to episode-level governance: a ₹ risk budget, claim provenance and an action gate across the whole task.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411480" y="55778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- THE SEVEN CORE SECTIONS THAT FOLLOW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11480" y="5852160"/>
            <a:ext cx="1294529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11480" y="5852160"/>
            <a:ext cx="1294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Problem</a:t>
            </a:r>
            <a:endParaRPr lang="en-US" sz="850" dirty="0"/>
          </a:p>
        </p:txBody>
      </p:sp>
      <p:sp>
        <p:nvSpPr>
          <p:cNvPr id="31" name="Text 26"/>
          <p:cNvSpPr txBox="1"/>
          <p:nvPr/>
        </p:nvSpPr>
        <p:spPr>
          <a:xfrm>
            <a:off x="1742585" y="5852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2090057" y="5852160"/>
            <a:ext cx="1294529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2090057" y="5852160"/>
            <a:ext cx="1294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Solution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3421162" y="5852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3768634" y="5852160"/>
            <a:ext cx="1294529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3768634" y="5852160"/>
            <a:ext cx="1294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Users</a:t>
            </a:r>
            <a:endParaRPr lang="en-US" sz="850" dirty="0"/>
          </a:p>
        </p:txBody>
      </p:sp>
      <p:sp>
        <p:nvSpPr>
          <p:cNvPr id="37" name="Text 32"/>
          <p:cNvSpPr txBox="1"/>
          <p:nvPr/>
        </p:nvSpPr>
        <p:spPr>
          <a:xfrm>
            <a:off x="5099739" y="5852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5447211" y="5852160"/>
            <a:ext cx="1294529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5447211" y="5852160"/>
            <a:ext cx="1294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Business case</a:t>
            </a:r>
            <a:endParaRPr lang="en-US" sz="850" dirty="0"/>
          </a:p>
        </p:txBody>
      </p:sp>
      <p:sp>
        <p:nvSpPr>
          <p:cNvPr id="40" name="Text 35"/>
          <p:cNvSpPr txBox="1"/>
          <p:nvPr/>
        </p:nvSpPr>
        <p:spPr>
          <a:xfrm>
            <a:off x="6778317" y="5852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7125789" y="5852160"/>
            <a:ext cx="1294529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7125789" y="5852160"/>
            <a:ext cx="1294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GTM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8456894" y="5852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8804366" y="5852160"/>
            <a:ext cx="1294529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8804366" y="5852160"/>
            <a:ext cx="1294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Roadmap</a:t>
            </a:r>
            <a:endParaRPr lang="en-US" sz="850" dirty="0"/>
          </a:p>
        </p:txBody>
      </p:sp>
      <p:sp>
        <p:nvSpPr>
          <p:cNvPr id="46" name="Text 41"/>
          <p:cNvSpPr txBox="1"/>
          <p:nvPr/>
        </p:nvSpPr>
        <p:spPr>
          <a:xfrm>
            <a:off x="10135471" y="5852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10482943" y="5852160"/>
            <a:ext cx="1294529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10482943" y="5852160"/>
            <a:ext cx="1294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Risks</a:t>
            </a:r>
            <a:endParaRPr lang="en-US" sz="850" dirty="0"/>
          </a:p>
        </p:txBody>
      </p:sp>
      <p:sp>
        <p:nvSpPr>
          <p:cNvPr id="49" name="Text 44"/>
          <p:cNvSpPr txBox="1"/>
          <p:nvPr/>
        </p:nvSpPr>
        <p:spPr>
          <a:xfrm>
            <a:off x="411480" y="6199632"/>
            <a:ext cx="11365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chip is one slide; every quantitative claim on them is annotated with where it is reproduced - the eval suite, the load test, or a stated assumption (full map in the appendix).</a:t>
            </a:r>
            <a:endParaRPr lang="en-US" sz="850" dirty="0"/>
          </a:p>
        </p:txBody>
      </p:sp>
      <p:sp>
        <p:nvSpPr>
          <p:cNvPr id="50" name="Text 45"/>
          <p:cNvSpPr txBox="1"/>
          <p:nvPr/>
        </p:nvSpPr>
        <p:spPr>
          <a:xfrm>
            <a:off x="411480" y="65105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claims: Team Pluoton R1 deck. Round 2 evidence: evals/out/results.json, evals/out/load_test.json (public repository).</a:t>
            </a:r>
            <a:endParaRPr lang="en-US" sz="750" dirty="0"/>
          </a:p>
        </p:txBody>
      </p:sp>
      <p:sp>
        <p:nvSpPr>
          <p:cNvPr id="51" name="Text 46"/>
          <p:cNvSpPr txBox="1"/>
          <p:nvPr/>
        </p:nvSpPr>
        <p:spPr>
          <a:xfrm>
            <a:off x="8897112" y="6510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Detailed Business Proposal ·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600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74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PROPOSAL · PROBLEM FRAMING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4846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Per-response guardrails are commodity - the compounding risk of a whole task is ungoverned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65379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99032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EPISODE FAILS WITH EVERY RESPONSE INDIVIDUALLY “SAFE”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18488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expected loss across one demo episode (₹ thousand)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828800"/>
          <a:ext cx="62179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94360" y="431596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7: HOLD - ₹103,467 vs ₹100,000 budget (measured, demo act 6). </a:t>
            </a:r>
            <a:pPr indent="0" marL="0">
              <a:buNone/>
            </a:pPr>
            <a:r>
              <a:rPr lang="en-US" sz="9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turn ever crossed a per-response block threshold. Intermediate points illustrative; endpoints measured.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1298448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AGENTS ARE FAILING IN EXACTLY THIS SHAPE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23760" y="1554480"/>
            <a:ext cx="4553712" cy="795528"/>
          </a:xfrm>
          <a:prstGeom prst="roundRect">
            <a:avLst>
              <a:gd name="adj" fmla="val 6897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33488" y="1618488"/>
            <a:ext cx="433425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7333488" y="1968155"/>
            <a:ext cx="4334256" cy="35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coding &amp; computer-use agents bypassed raw-string shell guards (GuardFall)</a:t>
            </a:r>
            <a:endParaRPr lang="en-US" sz="850" dirty="0"/>
          </a:p>
        </p:txBody>
      </p:sp>
      <p:pic>
        <p:nvPicPr>
          <p:cNvPr id="15" name="Image 0" descr="icons/FcCanc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4" y="1664208"/>
            <a:ext cx="347472" cy="3474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223760" y="2404872"/>
            <a:ext cx="4553712" cy="795528"/>
          </a:xfrm>
          <a:prstGeom prst="roundRect">
            <a:avLst>
              <a:gd name="adj" fmla="val 6897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33488" y="2468880"/>
            <a:ext cx="433425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email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7333488" y="2818547"/>
            <a:ext cx="4334256" cy="35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enough to poison agent memory - one planted “fact” steered later actions (MemGhost)</a:t>
            </a:r>
            <a:endParaRPr lang="en-US" sz="850" dirty="0"/>
          </a:p>
        </p:txBody>
      </p:sp>
      <p:pic>
        <p:nvPicPr>
          <p:cNvPr id="19" name="Image 1" descr="icons/FcHighPrior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984" y="2514600"/>
            <a:ext cx="347472" cy="3474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223760" y="3255264"/>
            <a:ext cx="4553712" cy="795528"/>
          </a:xfrm>
          <a:prstGeom prst="roundRect">
            <a:avLst>
              <a:gd name="adj" fmla="val 6897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33488" y="3319272"/>
            <a:ext cx="433425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7333488" y="3668939"/>
            <a:ext cx="4334256" cy="35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organisations report mature AI governance (Deloitte, 2026)</a:t>
            </a:r>
            <a:endParaRPr lang="en-US" sz="850" dirty="0"/>
          </a:p>
        </p:txBody>
      </p:sp>
      <p:pic>
        <p:nvPicPr>
          <p:cNvPr id="23" name="Image 2" descr="icons/FcSurv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3364992"/>
            <a:ext cx="347472" cy="34747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223760" y="4105656"/>
            <a:ext cx="4553712" cy="795528"/>
          </a:xfrm>
          <a:prstGeom prst="roundRect">
            <a:avLst>
              <a:gd name="adj" fmla="val 6897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333488" y="4169664"/>
            <a:ext cx="433425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14</a:t>
            </a:r>
            <a:endParaRPr lang="en-US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7333488" y="4519331"/>
            <a:ext cx="4334256" cy="35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demands effective human oversight - for agents, only dischargeable at episode level</a:t>
            </a:r>
            <a:endParaRPr lang="en-US" sz="850" dirty="0"/>
          </a:p>
        </p:txBody>
      </p:sp>
      <p:pic>
        <p:nvPicPr>
          <p:cNvPr id="27" name="Image 3" descr="icons/FcRul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984" y="4215384"/>
            <a:ext cx="347472" cy="34747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11480" y="4956048"/>
            <a:ext cx="6537960" cy="1417320"/>
          </a:xfrm>
          <a:prstGeom prst="roundRect">
            <a:avLst>
              <a:gd name="adj" fmla="val 3871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94360" y="507492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SOLVED BY THE MARKET - WE DON'T RESELL IT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594360" y="53492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868680" y="5349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&lt;200 ms in-VPC response checks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594360" y="56784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868680" y="567842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/ NIST RMF / ISO 42001 policy mapping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594360" y="60076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868680" y="60076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Hyperscaler guardrails bundled ~free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7223760" y="4956048"/>
            <a:ext cx="4553712" cy="1417320"/>
          </a:xfrm>
          <a:prstGeom prst="roundRect">
            <a:avLst>
              <a:gd name="adj" fmla="val 3871"/>
            </a:avLst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7406640" y="5084064"/>
            <a:ext cx="4187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“Multi-turn conversations and AI agents that take actions introduce compounding risk, where one questionable output can shape several downstream decisions.”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7406640" y="603504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Round 2 brief, Problem Track 1: the gap, named by the examiner</a:t>
            </a:r>
            <a:endParaRPr lang="en-US" sz="850" dirty="0"/>
          </a:p>
        </p:txBody>
      </p:sp>
      <p:sp>
        <p:nvSpPr>
          <p:cNvPr id="39" name="Text 32"/>
          <p:cNvSpPr txBox="1"/>
          <p:nvPr/>
        </p:nvSpPr>
        <p:spPr>
          <a:xfrm>
            <a:off x="411480" y="65105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GuardFall / MemGhost / Friendly Fire (2026 agent-security research); Deloitte AI governance survey 2026; EU AI Act Art. 14; demo act 6 (measured endpoint).</a:t>
            </a:r>
            <a:endParaRPr lang="en-US" sz="750" dirty="0"/>
          </a:p>
        </p:txBody>
      </p:sp>
      <p:sp>
        <p:nvSpPr>
          <p:cNvPr id="40" name="Text 33"/>
          <p:cNvSpPr txBox="1"/>
          <p:nvPr/>
        </p:nvSpPr>
        <p:spPr>
          <a:xfrm>
            <a:off x="8897112" y="6510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Detailed Business Proposal ·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600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74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PROPOSAL · SOLUTION DESIGN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4846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mechanisms govern the episode - on a gateway where policy is data, not code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1623713" cy="475488"/>
          </a:xfrm>
          <a:prstGeom prst="chevron">
            <a:avLst/>
          </a:prstGeom>
          <a:solidFill>
            <a:srgbClr val="F6E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" y="1298448"/>
            <a:ext cx="14774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gate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53481" y="1298448"/>
            <a:ext cx="1623713" cy="475488"/>
          </a:xfrm>
          <a:prstGeom prst="chevron">
            <a:avLst/>
          </a:prstGeom>
          <a:solidFill>
            <a:srgbClr val="F6E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26633" y="1298448"/>
            <a:ext cx="14774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+ mask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95482" y="1298448"/>
            <a:ext cx="1623713" cy="475488"/>
          </a:xfrm>
          <a:prstGeom prst="chevron">
            <a:avLst/>
          </a:prstGeom>
          <a:solidFill>
            <a:srgbClr val="F6E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68634" y="1298448"/>
            <a:ext cx="14774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(T0-T3)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37483" y="1298448"/>
            <a:ext cx="1623713" cy="475488"/>
          </a:xfrm>
          <a:prstGeom prst="chevron">
            <a:avLst/>
          </a:prstGeom>
          <a:solidFill>
            <a:srgbClr val="F6E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10635" y="1298448"/>
            <a:ext cx="14774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fusion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79485" y="1298448"/>
            <a:ext cx="1623713" cy="475488"/>
          </a:xfrm>
          <a:prstGeom prst="chevron">
            <a:avLst/>
          </a:prstGeom>
          <a:solidFill>
            <a:srgbClr val="A100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52637" y="1298448"/>
            <a:ext cx="14774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debit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21486" y="1298448"/>
            <a:ext cx="1623713" cy="475488"/>
          </a:xfrm>
          <a:prstGeom prst="chevron">
            <a:avLst/>
          </a:prstGeom>
          <a:solidFill>
            <a:srgbClr val="F6E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94638" y="1298448"/>
            <a:ext cx="14774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263487" y="1298448"/>
            <a:ext cx="1623713" cy="475488"/>
          </a:xfrm>
          <a:prstGeom prst="chevron">
            <a:avLst/>
          </a:prstGeom>
          <a:solidFill>
            <a:srgbClr val="46007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336639" y="1298448"/>
            <a:ext cx="14774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ledger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1810512"/>
            <a:ext cx="11365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proxy · per-use-case latency budgets · PII masked before it reaches the wire · every decision hash-chained and HMAC-signed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2029968"/>
            <a:ext cx="2745486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11480" y="2029968"/>
            <a:ext cx="2745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 · deterministic - regex, checksum, taint · ~0 ms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84982" y="2029968"/>
            <a:ext cx="2745486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84982" y="2029968"/>
            <a:ext cx="2745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· lexical &amp; small models - in budget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158484" y="2029968"/>
            <a:ext cx="2745486" cy="274320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58484" y="2029968"/>
            <a:ext cx="2745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· LLM judge - &gt;96% need no LLM call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031986" y="2029968"/>
            <a:ext cx="2745486" cy="274320"/>
          </a:xfrm>
          <a:prstGeom prst="roundRect">
            <a:avLst>
              <a:gd name="adj" fmla="val 50000"/>
            </a:avLst>
          </a:prstGeom>
          <a:solidFill>
            <a:srgbClr val="46007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31986" y="2029968"/>
            <a:ext cx="2745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· human - override queue, 2-person rule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11480" y="2450592"/>
            <a:ext cx="3636264" cy="2450592"/>
          </a:xfrm>
          <a:prstGeom prst="roundRect">
            <a:avLst>
              <a:gd name="adj" fmla="val 2239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30" name="Image 0" descr="icons/FcMoneyTransf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9104" y="2578608"/>
            <a:ext cx="384048" cy="384048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76072" y="2596896"/>
            <a:ext cx="402336" cy="402336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76072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88136" y="2596896"/>
            <a:ext cx="281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risk budget - in rupees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594360" y="3163824"/>
            <a:ext cx="3270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passed-but-uncertain output debits a hazard-based expected-loss meter, priced from a severity table the client's risk office signs. The EPISODE escalates when cumulative risk crosses budget.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94360" y="4480560"/>
            <a:ext cx="327050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E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4480560"/>
            <a:ext cx="3270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HOLD at turn 7 - ₹103,467 vs ₹100,000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276344" y="2450592"/>
            <a:ext cx="3636264" cy="2450592"/>
          </a:xfrm>
          <a:prstGeom prst="roundRect">
            <a:avLst>
              <a:gd name="adj" fmla="val 2239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38" name="Image 1" descr="icons/Fc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968" y="2578608"/>
            <a:ext cx="384048" cy="384048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4440936" y="2596896"/>
            <a:ext cx="402336" cy="402336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4440936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4953000" y="2596896"/>
            <a:ext cx="281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provenance &amp; taint</a:t>
            </a:r>
            <a:endParaRPr lang="en-US" sz="1250" dirty="0"/>
          </a:p>
        </p:txBody>
      </p:sp>
      <p:sp>
        <p:nvSpPr>
          <p:cNvPr id="42" name="Text 38"/>
          <p:cNvSpPr txBox="1"/>
          <p:nvPr/>
        </p:nvSpPr>
        <p:spPr>
          <a:xfrm>
            <a:off x="4459224" y="3163824"/>
            <a:ext cx="3270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Numbers, dates, names, IDs are canonicalised - “eighty-five thousand” = 85000 = ₹85,000. A value born ungrounded in model output stays tainted across every later turn. Deterministic, milliseconds, no model call.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459224" y="4480560"/>
            <a:ext cx="327050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E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4459224" y="4480560"/>
            <a:ext cx="3270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→ digits cannot launder a fabrication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8141208" y="2450592"/>
            <a:ext cx="3636264" cy="2450592"/>
          </a:xfrm>
          <a:prstGeom prst="roundRect">
            <a:avLst>
              <a:gd name="adj" fmla="val 2239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46" name="Image 2" descr="icons/F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578608"/>
            <a:ext cx="384048" cy="384048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8305800" y="2596896"/>
            <a:ext cx="402336" cy="402336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830580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Text 44"/>
          <p:cNvSpPr txBox="1"/>
          <p:nvPr/>
        </p:nvSpPr>
        <p:spPr>
          <a:xfrm>
            <a:off x="8817864" y="2596896"/>
            <a:ext cx="281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gate on reversibility</a:t>
            </a:r>
            <a:endParaRPr lang="en-US" sz="1250" dirty="0"/>
          </a:p>
        </p:txBody>
      </p:sp>
      <p:sp>
        <p:nvSpPr>
          <p:cNvPr id="50" name="Text 45"/>
          <p:cNvSpPr txBox="1"/>
          <p:nvPr/>
        </p:nvSpPr>
        <p:spPr>
          <a:xfrm>
            <a:off x="8324088" y="3163824"/>
            <a:ext cx="3270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irreversible tool call - pay, send, delete, submit - needs a taint-clear episode, not just clean arguments. Held BEFORE execution, evidence chain attached, two-person override.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8324088" y="4480560"/>
            <a:ext cx="327050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EF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8324088" y="4480560"/>
            <a:ext cx="3270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measured: 41/41 tainted held · 0/47 false holds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411480" y="5074920"/>
            <a:ext cx="6537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594360" y="519379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CALIBRATED DECISION PER RESPONSE - SIX OUTCOMES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594360" y="5486400"/>
            <a:ext cx="937260" cy="27432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594360" y="5486400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>
            <a:off x="1641348" y="5486400"/>
            <a:ext cx="937260" cy="27432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58" name="Text 53"/>
          <p:cNvSpPr txBox="1"/>
          <p:nvPr/>
        </p:nvSpPr>
        <p:spPr>
          <a:xfrm>
            <a:off x="1641348" y="5486400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</a:t>
            </a:r>
            <a:endParaRPr lang="en-US" sz="800" dirty="0"/>
          </a:p>
        </p:txBody>
      </p:sp>
      <p:sp>
        <p:nvSpPr>
          <p:cNvPr id="59" name="Shape 54"/>
          <p:cNvSpPr/>
          <p:nvPr/>
        </p:nvSpPr>
        <p:spPr>
          <a:xfrm>
            <a:off x="2688336" y="5486400"/>
            <a:ext cx="937260" cy="274320"/>
          </a:xfrm>
          <a:prstGeom prst="roundRect">
            <a:avLst>
              <a:gd name="adj" fmla="val 50000"/>
            </a:avLst>
          </a:prstGeom>
          <a:solidFill>
            <a:srgbClr val="F6EFFF"/>
          </a:solidFill>
          <a:ln/>
        </p:spPr>
      </p:sp>
      <p:sp>
        <p:nvSpPr>
          <p:cNvPr id="60" name="Text 55"/>
          <p:cNvSpPr txBox="1"/>
          <p:nvPr/>
        </p:nvSpPr>
        <p:spPr>
          <a:xfrm>
            <a:off x="2688336" y="5486400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3735324" y="5486400"/>
            <a:ext cx="937260" cy="27432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/>
        </p:spPr>
      </p:sp>
      <p:sp>
        <p:nvSpPr>
          <p:cNvPr id="62" name="Text 57"/>
          <p:cNvSpPr txBox="1"/>
          <p:nvPr/>
        </p:nvSpPr>
        <p:spPr>
          <a:xfrm>
            <a:off x="3735324" y="5486400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4782312" y="5486400"/>
            <a:ext cx="937260" cy="27432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/>
        </p:spPr>
      </p:sp>
      <p:sp>
        <p:nvSpPr>
          <p:cNvPr id="64" name="Text 59"/>
          <p:cNvSpPr txBox="1"/>
          <p:nvPr/>
        </p:nvSpPr>
        <p:spPr>
          <a:xfrm>
            <a:off x="4782312" y="5486400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00" dirty="0"/>
          </a:p>
        </p:txBody>
      </p:sp>
      <p:sp>
        <p:nvSpPr>
          <p:cNvPr id="65" name="Shape 60"/>
          <p:cNvSpPr/>
          <p:nvPr/>
        </p:nvSpPr>
        <p:spPr>
          <a:xfrm>
            <a:off x="5829300" y="5486400"/>
            <a:ext cx="937260" cy="274320"/>
          </a:xfrm>
          <a:prstGeom prst="roundRect">
            <a:avLst>
              <a:gd name="adj" fmla="val 50000"/>
            </a:avLst>
          </a:prstGeom>
          <a:solidFill>
            <a:srgbClr val="460073"/>
          </a:solidFill>
          <a:ln/>
        </p:spPr>
      </p:sp>
      <p:sp>
        <p:nvSpPr>
          <p:cNvPr id="66" name="Text 61"/>
          <p:cNvSpPr txBox="1"/>
          <p:nvPr/>
        </p:nvSpPr>
        <p:spPr>
          <a:xfrm>
            <a:off x="5829300" y="5486400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ACTION</a:t>
            </a:r>
            <a:endParaRPr lang="en-US" sz="800" dirty="0"/>
          </a:p>
        </p:txBody>
      </p:sp>
      <p:sp>
        <p:nvSpPr>
          <p:cNvPr id="67" name="Text 62"/>
          <p:cNvSpPr txBox="1"/>
          <p:nvPr/>
        </p:nvSpPr>
        <p:spPr>
          <a:xfrm>
            <a:off x="594360" y="58704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is deterministic (mask / correct / cite-strip) - the “edit” tier that latency pressure never cuts.</a:t>
            </a:r>
            <a:endParaRPr lang="en-US" sz="850" dirty="0"/>
          </a:p>
        </p:txBody>
      </p:sp>
      <p:sp>
        <p:nvSpPr>
          <p:cNvPr id="68" name="Shape 63"/>
          <p:cNvSpPr/>
          <p:nvPr/>
        </p:nvSpPr>
        <p:spPr>
          <a:xfrm>
            <a:off x="7223760" y="5074920"/>
            <a:ext cx="4553712" cy="1280160"/>
          </a:xfrm>
          <a:prstGeom prst="roundRect">
            <a:avLst>
              <a:gd name="adj" fmla="val 4286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69" name="Text 64"/>
          <p:cNvSpPr txBox="1"/>
          <p:nvPr/>
        </p:nvSpPr>
        <p:spPr>
          <a:xfrm>
            <a:off x="7406640" y="5193792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AS CONFIGURATION</a:t>
            </a:r>
            <a:endParaRPr lang="en-US" sz="900" dirty="0"/>
          </a:p>
        </p:txBody>
      </p:sp>
      <p:sp>
        <p:nvSpPr>
          <p:cNvPr id="70" name="Text 65"/>
          <p:cNvSpPr txBox="1"/>
          <p:nvPr/>
        </p:nvSpPr>
        <p:spPr>
          <a:xfrm>
            <a:off x="7406640" y="5394960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signed policy packs + IN / EU / US jurisdiction overlays, hot-reloaded with anti-rollback. Detection stays pluggable commodity - bring any vendor; the episode layer above it is the product.</a:t>
            </a:r>
            <a:endParaRPr lang="en-US" sz="900" dirty="0"/>
          </a:p>
        </p:txBody>
      </p:sp>
      <p:sp>
        <p:nvSpPr>
          <p:cNvPr id="71" name="Shape 66"/>
          <p:cNvSpPr/>
          <p:nvPr/>
        </p:nvSpPr>
        <p:spPr>
          <a:xfrm>
            <a:off x="7406640" y="598932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72" name="Text 67"/>
          <p:cNvSpPr txBox="1"/>
          <p:nvPr/>
        </p:nvSpPr>
        <p:spPr>
          <a:xfrm>
            <a:off x="7406640" y="59893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customer_support · fail-open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8833104" y="598932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74" name="Text 69"/>
          <p:cNvSpPr txBox="1"/>
          <p:nvPr/>
        </p:nvSpPr>
        <p:spPr>
          <a:xfrm>
            <a:off x="8833104" y="59893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internal_copilot · 1.5 s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10259568" y="598932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/>
        </p:spPr>
      </p:sp>
      <p:sp>
        <p:nvSpPr>
          <p:cNvPr id="76" name="Text 71"/>
          <p:cNvSpPr txBox="1"/>
          <p:nvPr/>
        </p:nvSpPr>
        <p:spPr>
          <a:xfrm>
            <a:off x="10259568" y="59893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decision_support · fail-closed</a:t>
            </a:r>
            <a:endParaRPr lang="en-US" sz="700" dirty="0"/>
          </a:p>
        </p:txBody>
      </p:sp>
      <p:sp>
        <p:nvSpPr>
          <p:cNvPr id="77" name="Text 72"/>
          <p:cNvSpPr txBox="1"/>
          <p:nvPr/>
        </p:nvSpPr>
        <p:spPr>
          <a:xfrm>
            <a:off x="411480" y="65105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Mechanisms and pipeline as shipped in the prototype (controlplane/); gate and taint figures: evals/out/results.json.</a:t>
            </a:r>
            <a:endParaRPr lang="en-US" sz="750" dirty="0"/>
          </a:p>
        </p:txBody>
      </p:sp>
      <p:sp>
        <p:nvSpPr>
          <p:cNvPr id="78" name="Text 73"/>
          <p:cNvSpPr txBox="1"/>
          <p:nvPr/>
        </p:nvSpPr>
        <p:spPr>
          <a:xfrm>
            <a:off x="8897112" y="6510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Detailed Business Proposal ·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600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74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PROPOSAL · TARGET USERS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4846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three governed lanes - each lane a policy pack with its own physics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buyer: </a:t>
            </a:r>
            <a:pPr indent="0" marL="0">
              <a:buNone/>
            </a:pPr>
            <a:r>
              <a:rPr lang="en-US" sz="10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/ Head of AI Platform, with the CRO as co-sponsor whose regulatory pressure creates urgency. Engineering, FinOps and operations are stakeholders to neutralise - latency, cost, alert fatigue - not signatures to collect. Daily users: risk-ops analysts on the console + the L1/L2 triage bench.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3636264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9" name="Image 0" descr="icons/Fc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7392" y="2231136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57784" y="2249424"/>
            <a:ext cx="82296" cy="548640"/>
          </a:xfrm>
          <a:prstGeom prst="roundRect">
            <a:avLst>
              <a:gd name="adj" fmla="val 44444"/>
            </a:avLst>
          </a:prstGeom>
          <a:solidFill>
            <a:srgbClr val="18803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58952" y="2231136"/>
            <a:ext cx="313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 assistant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2542032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customer-facing · real-time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8712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2871216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ms detector budget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1821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182112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fail-open on checker fault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34930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49300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masked mid-stream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38039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380390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over BLOCK - protect CX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4360" y="4133088"/>
            <a:ext cx="3270504" cy="27432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94360" y="4133088"/>
            <a:ext cx="327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100% · 0 false flags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276344" y="2103120"/>
            <a:ext cx="3636264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24" name="Image 1" descr="icons/FcOrganiz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256" y="2231136"/>
            <a:ext cx="365760" cy="36576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422648" y="2249424"/>
            <a:ext cx="82296" cy="548640"/>
          </a:xfrm>
          <a:prstGeom prst="roundRect">
            <a:avLst>
              <a:gd name="adj" fmla="val 44444"/>
            </a:avLst>
          </a:prstGeom>
          <a:solidFill>
            <a:srgbClr val="1A73E8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623816" y="2231136"/>
            <a:ext cx="313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knowledge copilot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4623816" y="2542032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employee-facing · near-real-time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4459224" y="28712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4733544" y="2871216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s budget - fuller ensemble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4459224" y="31821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733544" y="3182112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source-trust tiers debit differently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4459224" y="34930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733544" y="349300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annotate-first posture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4459224" y="38039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4733544" y="380390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abstains instead of inventing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459224" y="4133088"/>
            <a:ext cx="3270504" cy="27432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4459224" y="4133088"/>
            <a:ext cx="327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96.4% · abstention 43/43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8141208" y="2103120"/>
            <a:ext cx="3636264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39" name="Image 2" descr="icons/FcDataProtec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231136"/>
            <a:ext cx="365760" cy="365760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8287512" y="2249424"/>
            <a:ext cx="82296" cy="548640"/>
          </a:xfrm>
          <a:prstGeom prst="roundRect">
            <a:avLst>
              <a:gd name="adj" fmla="val 44444"/>
            </a:avLst>
          </a:prstGeom>
          <a:solidFill>
            <a:srgbClr val="C5221F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488680" y="2231136"/>
            <a:ext cx="313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Decision-support tool</a:t>
            </a:r>
            <a:endParaRPr lang="en-US" sz="1150" dirty="0"/>
          </a:p>
        </p:txBody>
      </p:sp>
      <p:sp>
        <p:nvSpPr>
          <p:cNvPr id="42" name="Text 37"/>
          <p:cNvSpPr txBox="1"/>
          <p:nvPr/>
        </p:nvSpPr>
        <p:spPr>
          <a:xfrm>
            <a:off x="8488680" y="2542032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· action-taking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8324088" y="28712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8598408" y="2871216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mode · fail-closed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8324088" y="31821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8598408" y="3182112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held on episode taint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8324088" y="34930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8598408" y="349300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two-person override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8324088" y="38039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8598408" y="380390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IN/EU/US packs flip outcomes live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8324088" y="4133088"/>
            <a:ext cx="3270504" cy="27432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8324088" y="4133088"/>
            <a:ext cx="327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41/41 held · 0/47 false holds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411480" y="4663440"/>
            <a:ext cx="6537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594360" y="4754880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RECALL BY RISK CATEGORY - % OF INJECTED FAILURES CAUGHT</a:t>
            </a:r>
            <a:endParaRPr lang="en-US" sz="900" dirty="0"/>
          </a:p>
        </p:txBody>
      </p:sp>
      <p:graphicFrame>
        <p:nvGraphicFramePr>
          <p:cNvPr id="55" name="Chart 0" descr=""/>
          <p:cNvGraphicFramePr/>
          <p:nvPr/>
        </p:nvGraphicFramePr>
        <p:xfrm>
          <a:off x="548640" y="4983480"/>
          <a:ext cx="6217920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6" name="Shape 50"/>
          <p:cNvSpPr/>
          <p:nvPr/>
        </p:nvSpPr>
        <p:spPr>
          <a:xfrm>
            <a:off x="7223760" y="4663440"/>
            <a:ext cx="2139696" cy="1691640"/>
          </a:xfrm>
          <a:prstGeom prst="roundRect">
            <a:avLst>
              <a:gd name="adj" fmla="val 3243"/>
            </a:avLst>
          </a:prstGeom>
          <a:solidFill>
            <a:srgbClr val="E6F4EA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7333488" y="4727448"/>
            <a:ext cx="192024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58" name="Text 52"/>
          <p:cNvSpPr txBox="1"/>
          <p:nvPr/>
        </p:nvSpPr>
        <p:spPr>
          <a:xfrm>
            <a:off x="7333488" y="5543093"/>
            <a:ext cx="192024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flags across 2,381 benign test records - over-flagging is the adoption killer; we measured against it</a:t>
            </a:r>
            <a:endParaRPr lang="en-US" sz="850" dirty="0"/>
          </a:p>
        </p:txBody>
      </p:sp>
      <p:sp>
        <p:nvSpPr>
          <p:cNvPr id="59" name="Shape 53"/>
          <p:cNvSpPr/>
          <p:nvPr/>
        </p:nvSpPr>
        <p:spPr>
          <a:xfrm>
            <a:off x="9500616" y="4663440"/>
            <a:ext cx="2139696" cy="1691640"/>
          </a:xfrm>
          <a:prstGeom prst="roundRect">
            <a:avLst>
              <a:gd name="adj" fmla="val 3243"/>
            </a:avLst>
          </a:prstGeom>
          <a:solidFill>
            <a:srgbClr val="E8F0FE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9610344" y="4727448"/>
            <a:ext cx="192024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43/43</a:t>
            </a:r>
            <a:endParaRPr lang="en-US" sz="2100" dirty="0"/>
          </a:p>
        </p:txBody>
      </p:sp>
      <p:sp>
        <p:nvSpPr>
          <p:cNvPr id="61" name="Text 55"/>
          <p:cNvSpPr txBox="1"/>
          <p:nvPr/>
        </p:nvSpPr>
        <p:spPr>
          <a:xfrm>
            <a:off x="9610344" y="5543093"/>
            <a:ext cx="192024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abstentions - INSUFFICIENT_EVIDENCE instead of an invented answer, per the brief's “no ground truth” complexity</a:t>
            </a:r>
            <a:endParaRPr lang="en-US" sz="850" dirty="0"/>
          </a:p>
        </p:txBody>
      </p:sp>
      <p:sp>
        <p:nvSpPr>
          <p:cNvPr id="62" name="Text 56"/>
          <p:cNvSpPr txBox="1"/>
          <p:nvPr/>
        </p:nvSpPr>
        <p:spPr>
          <a:xfrm>
            <a:off x="411480" y="65105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Recall, false-flag, abstention and gate figures: evals/out/results.json (test split, 2,381 records; 95% CIs in repository README).</a:t>
            </a:r>
            <a:endParaRPr lang="en-US" sz="750" dirty="0"/>
          </a:p>
        </p:txBody>
      </p:sp>
      <p:sp>
        <p:nvSpPr>
          <p:cNvPr id="63" name="Text 57"/>
          <p:cNvSpPr txBox="1"/>
          <p:nvPr/>
        </p:nvSpPr>
        <p:spPr>
          <a:xfrm>
            <a:off x="8897112" y="6510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Detailed Business Proposal ·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600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74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PROPOSAL · BUSINESS CASE &amp; IMPACT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4846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₹1.2 Cr avoided loss against ₹25L all-in cost - a 4.8× floor before any regulatory term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42062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7" name="Image 0" descr="icons/FcCombo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368" y="13898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1399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CASE, PER CLIENT PER YEAR (₹ CR)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664208"/>
          <a:ext cx="3886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94360" y="3822192"/>
            <a:ext cx="3840480" cy="512064"/>
          </a:xfrm>
          <a:prstGeom prst="roundRect">
            <a:avLst>
              <a:gd name="adj" fmla="val 14286"/>
            </a:avLst>
          </a:prstGeom>
          <a:solidFill>
            <a:srgbClr val="460073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94360" y="382219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floor ≈ 4.8×</a:t>
            </a:r>
            <a:pPr algn="ctr" indent="0" marL="0">
              <a:buNone/>
            </a:pPr>
            <a:r>
              <a:rPr lang="en-US" sz="85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remediation only, zero regulatory term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846320" y="1280160"/>
            <a:ext cx="3749040" cy="3200400"/>
          </a:xfrm>
          <a:prstGeom prst="roundRect">
            <a:avLst>
              <a:gd name="adj" fmla="val 1714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13" name="Image 1" descr="icons/FcRu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96" y="13898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29200" y="13990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INPUT ON THE SLIDE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5029200" y="17007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85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17007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2.1M interactions/yr (brief parameter)</a:t>
            </a:r>
            <a:endParaRPr lang="en-US" sz="850" dirty="0"/>
          </a:p>
        </p:txBody>
      </p:sp>
      <p:sp>
        <p:nvSpPr>
          <p:cNvPr id="17" name="Text 12"/>
          <p:cNvSpPr txBox="1"/>
          <p:nvPr/>
        </p:nvSpPr>
        <p:spPr>
          <a:xfrm>
            <a:off x="5029200" y="21579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Material-failure rate</a:t>
            </a:r>
            <a:endParaRPr lang="en-US" sz="85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21579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 - assumed, then measured in shadow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0" y="26151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rate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26151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- measured on the benchmark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5029200" y="30723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failure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6492240" y="30723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₹600 remediation + concession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5029200" y="35295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 cost side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6492240" y="352958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₹5L platform + ₹10L managed service, incl. triage bench (8,400 esc/yr × 10 min × ₹500/hr ≈ ₹7L)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5029200" y="40416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band - separate, never blended: probability-weighted DPDP / disclosure / goodwill exposure adds ₹30L-₹1.5Cr. We never anchor on statutory ceilings.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8823960" y="1280160"/>
            <a:ext cx="2953512" cy="320040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27" name="Image 2" descr="icons/FcApprov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138988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006840" y="1399032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SURVIVES A CFO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9006840" y="17190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9281160" y="171907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the assumption, not the method - all inputs visible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9006840" y="21854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281160" y="2185416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rate isn't ours to claim: shadow mode measures it on the client's traffic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9006840" y="26517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9281160" y="265176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table isn't ours to invent: the client's risk office signs it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9006840" y="31181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9281160" y="311810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labour sits inside the denominator - ROI is net of humans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9006840" y="35844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9281160" y="358444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budget meter IS the ROI dashboard - same ₹ machinery, live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9006840" y="40507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9281160" y="4050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is the brief's own parameter - no invented market size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411480" y="46817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- WHY THE MARGIN STORY HOLDS AT SCALE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11480" y="4956048"/>
            <a:ext cx="2112264" cy="1371600"/>
          </a:xfrm>
          <a:prstGeom prst="roundRect">
            <a:avLst>
              <a:gd name="adj" fmla="val 4000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521208" y="5020056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0.04%</a:t>
            </a:r>
            <a:endParaRPr lang="en-US" sz="2100" dirty="0"/>
          </a:p>
        </p:txBody>
      </p:sp>
      <p:sp>
        <p:nvSpPr>
          <p:cNvPr id="44" name="Text 38"/>
          <p:cNvSpPr txBox="1"/>
          <p:nvPr/>
        </p:nvSpPr>
        <p:spPr>
          <a:xfrm>
            <a:off x="521208" y="5669280"/>
            <a:ext cx="18928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compute vs model spend (load test)</a:t>
            </a:r>
            <a:endParaRPr lang="en-US" sz="850" dirty="0"/>
          </a:p>
        </p:txBody>
      </p:sp>
      <p:pic>
        <p:nvPicPr>
          <p:cNvPr id="45" name="Image 3" descr="icons/FcCurrencyExch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6544" y="5047488"/>
            <a:ext cx="329184" cy="329184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724912" y="4956048"/>
            <a:ext cx="2112264" cy="1371600"/>
          </a:xfrm>
          <a:prstGeom prst="roundRect">
            <a:avLst>
              <a:gd name="adj" fmla="val 4000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2834640" y="5020056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&gt;96%</a:t>
            </a:r>
            <a:endParaRPr lang="en-US" sz="2100" dirty="0"/>
          </a:p>
        </p:txBody>
      </p:sp>
      <p:sp>
        <p:nvSpPr>
          <p:cNvPr id="48" name="Text 41"/>
          <p:cNvSpPr txBox="1"/>
          <p:nvPr/>
        </p:nvSpPr>
        <p:spPr>
          <a:xfrm>
            <a:off x="2834640" y="5669280"/>
            <a:ext cx="18928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traffic checked with no LLM call at all</a:t>
            </a:r>
            <a:endParaRPr lang="en-US" sz="850" dirty="0"/>
          </a:p>
        </p:txBody>
      </p:sp>
      <p:pic>
        <p:nvPicPr>
          <p:cNvPr id="49" name="Image 4" descr="icons/FcParallelTask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976" y="5047488"/>
            <a:ext cx="329184" cy="329184"/>
          </a:xfrm>
          <a:prstGeom prst="rect">
            <a:avLst/>
          </a:prstGeom>
        </p:spPr>
      </p:pic>
      <p:sp>
        <p:nvSpPr>
          <p:cNvPr id="50" name="Shape 42"/>
          <p:cNvSpPr/>
          <p:nvPr/>
        </p:nvSpPr>
        <p:spPr>
          <a:xfrm>
            <a:off x="5038344" y="4956048"/>
            <a:ext cx="2112264" cy="1371600"/>
          </a:xfrm>
          <a:prstGeom prst="roundRect">
            <a:avLst>
              <a:gd name="adj" fmla="val 4000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5148072" y="5020056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 ms</a:t>
            </a:r>
            <a:endParaRPr lang="en-US" sz="2100" dirty="0"/>
          </a:p>
        </p:txBody>
      </p:sp>
      <p:sp>
        <p:nvSpPr>
          <p:cNvPr id="52" name="Text 44"/>
          <p:cNvSpPr txBox="1"/>
          <p:nvPr/>
        </p:nvSpPr>
        <p:spPr>
          <a:xfrm>
            <a:off x="5148072" y="5669280"/>
            <a:ext cx="18928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 added latency · 20.3 ms p95</a:t>
            </a:r>
            <a:endParaRPr lang="en-US" sz="850" dirty="0"/>
          </a:p>
        </p:txBody>
      </p:sp>
      <p:pic>
        <p:nvPicPr>
          <p:cNvPr id="53" name="Image 5" descr="icons/FcAlarmC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5047488"/>
            <a:ext cx="329184" cy="329184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7351776" y="4956048"/>
            <a:ext cx="2112264" cy="1371600"/>
          </a:xfrm>
          <a:prstGeom prst="roundRect">
            <a:avLst>
              <a:gd name="adj" fmla="val 4000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7461504" y="5020056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req/s</a:t>
            </a:r>
            <a:endParaRPr lang="en-US" sz="2100" dirty="0"/>
          </a:p>
        </p:txBody>
      </p:sp>
      <p:sp>
        <p:nvSpPr>
          <p:cNvPr id="56" name="Text 47"/>
          <p:cNvSpPr txBox="1"/>
          <p:nvPr/>
        </p:nvSpPr>
        <p:spPr>
          <a:xfrm>
            <a:off x="7461504" y="5669280"/>
            <a:ext cx="18928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stateless instance at saturation · 0 errors</a:t>
            </a:r>
            <a:endParaRPr lang="en-US" sz="850" dirty="0"/>
          </a:p>
        </p:txBody>
      </p:sp>
      <p:pic>
        <p:nvPicPr>
          <p:cNvPr id="57" name="Image 6" descr="icons/FcDeploym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5047488"/>
            <a:ext cx="329184" cy="329184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9665208" y="4956048"/>
            <a:ext cx="2112264" cy="1371600"/>
          </a:xfrm>
          <a:prstGeom prst="roundRect">
            <a:avLst>
              <a:gd name="adj" fmla="val 4000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9774936" y="5020056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0.065</a:t>
            </a:r>
            <a:endParaRPr lang="en-US" sz="2100" dirty="0"/>
          </a:p>
        </p:txBody>
      </p:sp>
      <p:sp>
        <p:nvSpPr>
          <p:cNvPr id="60" name="Text 50"/>
          <p:cNvSpPr txBox="1"/>
          <p:nvPr/>
        </p:nvSpPr>
        <p:spPr>
          <a:xfrm>
            <a:off x="9774936" y="5669280"/>
            <a:ext cx="18928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calibration error - scores you can price risk on</a:t>
            </a:r>
            <a:endParaRPr lang="en-US" sz="850" dirty="0"/>
          </a:p>
        </p:txBody>
      </p:sp>
      <p:pic>
        <p:nvPicPr>
          <p:cNvPr id="61" name="Image 7" descr="icons/FcBarCha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20272" y="5047488"/>
            <a:ext cx="329184" cy="329184"/>
          </a:xfrm>
          <a:prstGeom prst="rect">
            <a:avLst/>
          </a:prstGeom>
        </p:spPr>
      </p:pic>
      <p:sp>
        <p:nvSpPr>
          <p:cNvPr id="62" name="Text 51"/>
          <p:cNvSpPr txBox="1"/>
          <p:nvPr/>
        </p:nvSpPr>
        <p:spPr>
          <a:xfrm>
            <a:off x="411480" y="65105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inputs as stated; measured figures: evals/out/load_test.json, evals/out/results.json. Pricing: per governed use case/month (see 07).</a:t>
            </a:r>
            <a:endParaRPr lang="en-US" sz="750" dirty="0"/>
          </a:p>
        </p:txBody>
      </p:sp>
      <p:sp>
        <p:nvSpPr>
          <p:cNvPr id="63" name="Text 52"/>
          <p:cNvSpPr txBox="1"/>
          <p:nvPr/>
        </p:nvSpPr>
        <p:spPr>
          <a:xfrm>
            <a:off x="8897112" y="6510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Detailed Business Proposal ·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600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74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PROPOSAL · GO-TO-MARKET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4846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with an audit, price the governed use case, run the service - on Accenture's own motion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3806952" cy="1417320"/>
          </a:xfrm>
          <a:prstGeom prst="chevron">
            <a:avLst/>
          </a:prstGeom>
          <a:solidFill>
            <a:srgbClr val="F6EFFF"/>
          </a:solidFill>
          <a:ln/>
        </p:spPr>
      </p:sp>
      <p:pic>
        <p:nvPicPr>
          <p:cNvPr id="7" name="Image 0" descr="icons/FcShi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1776" y="1389888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1389888"/>
            <a:ext cx="319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- Assurance Assessment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682496"/>
            <a:ext cx="2599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weeks · fixed fee · AUDIT mode over exported logs - zero production footprint, no InfoSec review blocking week 1. Deliverables: episode risk report + client-signed severity table.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136136" y="1280160"/>
            <a:ext cx="3806952" cy="1417320"/>
          </a:xfrm>
          <a:prstGeom prst="chevron">
            <a:avLst/>
          </a:prstGeom>
          <a:solidFill>
            <a:srgbClr val="7500C0"/>
          </a:solidFill>
          <a:ln/>
        </p:spPr>
      </p:sp>
      <p:sp>
        <p:nvSpPr>
          <p:cNvPr id="11" name="Shape 8"/>
          <p:cNvSpPr/>
          <p:nvPr/>
        </p:nvSpPr>
        <p:spPr>
          <a:xfrm>
            <a:off x="7229856" y="13716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6350">
            <a:solidFill>
              <a:srgbClr val="E4DCEF"/>
            </a:solidFill>
            <a:prstDash val="solid"/>
          </a:ln>
        </p:spPr>
      </p:sp>
      <p:pic>
        <p:nvPicPr>
          <p:cNvPr id="12" name="Image 1" descr="icons/FcDeploy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743" y="1430487"/>
            <a:ext cx="302849" cy="3028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57928" y="1389888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- In-tenancy deployment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004816" y="1682496"/>
            <a:ext cx="2097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per governed use case / agent class per month, tiered by risk class &amp; jurisdictions. 0.04% COGS is the margin story, never the price anchor.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970520" y="1280160"/>
            <a:ext cx="3806952" cy="1417320"/>
          </a:xfrm>
          <a:prstGeom prst="chevron">
            <a:avLst/>
          </a:prstGeom>
          <a:solidFill>
            <a:srgbClr val="460073"/>
          </a:solidFill>
          <a:ln/>
        </p:spPr>
      </p:sp>
      <p:sp>
        <p:nvSpPr>
          <p:cNvPr id="16" name="Shape 12"/>
          <p:cNvSpPr/>
          <p:nvPr/>
        </p:nvSpPr>
        <p:spPr>
          <a:xfrm>
            <a:off x="11064240" y="13716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6350">
            <a:solidFill>
              <a:srgbClr val="E4DCEF"/>
            </a:solidFill>
            <a:prstDash val="solid"/>
          </a:ln>
        </p:spPr>
      </p:sp>
      <p:pic>
        <p:nvPicPr>
          <p:cNvPr id="17" name="Image 2" descr="icons/FcServic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127" y="1430487"/>
            <a:ext cx="302849" cy="30284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92312" y="1389888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- Managed assurance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8839200" y="1682496"/>
            <a:ext cx="2097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L1/L2/L3 triage bench · quarterly policy-pack updates · drift recalibration vs a frozen canary set. Human review IS the recurring line - priced in.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11480" y="2926080"/>
            <a:ext cx="65379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94360" y="3035808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MAP - THE TOP-RIGHT QUADRANT IS EMPTY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1097280" y="3429000"/>
            <a:ext cx="5349240" cy="2377440"/>
          </a:xfrm>
          <a:prstGeom prst="rect">
            <a:avLst/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771900" y="3429000"/>
            <a:ext cx="10973" cy="2377440"/>
          </a:xfrm>
          <a:prstGeom prst="rect">
            <a:avLst/>
          </a:prstGeom>
          <a:solidFill>
            <a:srgbClr val="E4DCEF"/>
          </a:solidFill>
          <a:ln/>
        </p:spPr>
      </p:sp>
      <p:sp>
        <p:nvSpPr>
          <p:cNvPr id="24" name="Shape 19"/>
          <p:cNvSpPr/>
          <p:nvPr/>
        </p:nvSpPr>
        <p:spPr>
          <a:xfrm>
            <a:off x="1097280" y="4617720"/>
            <a:ext cx="5349240" cy="10973"/>
          </a:xfrm>
          <a:prstGeom prst="rect">
            <a:avLst/>
          </a:prstGeom>
          <a:solidFill>
            <a:srgbClr val="E4DCE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1097280" y="5861304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OF GOVERNANCE →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152144" y="5861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5294376" y="5861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 rot="16200000">
            <a:off x="530352" y="3794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→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152144" y="5550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1152144" y="3502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2638044" y="5076749"/>
            <a:ext cx="128016" cy="12801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793492" y="5031029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Fiddler · Galileo · Arthur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2210105" y="4078224"/>
            <a:ext cx="128016" cy="128016"/>
          </a:xfrm>
          <a:prstGeom prst="ellipse">
            <a:avLst/>
          </a:prstGeom>
          <a:solidFill>
            <a:srgbClr val="B26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2365553" y="40325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Hyperscaler guardrails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1675181" y="5385816"/>
            <a:ext cx="128016" cy="128016"/>
          </a:xfrm>
          <a:prstGeom prst="ellipse">
            <a:avLst/>
          </a:prstGeom>
          <a:solidFill>
            <a:srgbClr val="6A6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830629" y="5340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gateways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4242816" y="5266944"/>
            <a:ext cx="128016" cy="128016"/>
          </a:xfrm>
          <a:prstGeom prst="ellipse">
            <a:avLst/>
          </a:prstGeom>
          <a:solidFill>
            <a:srgbClr val="750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4398264" y="5221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observability add-ons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5542178" y="3701491"/>
            <a:ext cx="310896" cy="310896"/>
          </a:xfrm>
          <a:prstGeom prst="ellipse">
            <a:avLst/>
          </a:prstGeom>
          <a:solidFill>
            <a:srgbClr val="A100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5542178" y="37014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2268626" y="3354019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- enforces before the irreversible call, at episode scope</a:t>
            </a:r>
            <a:endParaRPr lang="en-US" sz="800" dirty="0"/>
          </a:p>
        </p:txBody>
      </p:sp>
      <p:sp>
        <p:nvSpPr>
          <p:cNvPr id="42" name="Text 37"/>
          <p:cNvSpPr txBox="1"/>
          <p:nvPr/>
        </p:nvSpPr>
        <p:spPr>
          <a:xfrm>
            <a:off x="594360" y="603504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placement from public positioning (2026). CP placement is this prototype's measured behaviour: 41/41 pre-execution holds at episode scope.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7223760" y="2926080"/>
            <a:ext cx="4553712" cy="1645920"/>
          </a:xfrm>
          <a:prstGeom prst="roundRect">
            <a:avLst>
              <a:gd name="adj" fmla="val 3333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44" name="Image 3" descr="icons/F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3035808"/>
            <a:ext cx="347472" cy="347472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7406640" y="3044952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IS THE UNIT OF ACCOUNT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7406640" y="3291840"/>
            <a:ext cx="4187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Bring-your-own-detector is a feature: commoditised detection makes the neutral episode &amp; evidence layer above it MORE valuable. A fast-follow by incumbents requires abandoning per-response pricing and architecture - their revenue model is the switching cost.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7406640" y="4187952"/>
            <a:ext cx="13228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7406640" y="4187952"/>
            <a:ext cx="132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of account</a:t>
            </a:r>
            <a:endParaRPr lang="en-US" sz="750" dirty="0"/>
          </a:p>
        </p:txBody>
      </p:sp>
      <p:sp>
        <p:nvSpPr>
          <p:cNvPr id="49" name="Shape 43"/>
          <p:cNvSpPr/>
          <p:nvPr/>
        </p:nvSpPr>
        <p:spPr>
          <a:xfrm>
            <a:off x="8839200" y="4187952"/>
            <a:ext cx="13228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8839200" y="4187952"/>
            <a:ext cx="132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severity method</a:t>
            </a:r>
            <a:endParaRPr lang="en-US" sz="750" dirty="0"/>
          </a:p>
        </p:txBody>
      </p:sp>
      <p:sp>
        <p:nvSpPr>
          <p:cNvPr id="51" name="Shape 45"/>
          <p:cNvSpPr/>
          <p:nvPr/>
        </p:nvSpPr>
        <p:spPr>
          <a:xfrm>
            <a:off x="10271760" y="4187952"/>
            <a:ext cx="13228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10271760" y="4187952"/>
            <a:ext cx="132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install base</a:t>
            </a:r>
            <a:endParaRPr lang="en-US" sz="750" dirty="0"/>
          </a:p>
        </p:txBody>
      </p:sp>
      <p:sp>
        <p:nvSpPr>
          <p:cNvPr id="53" name="Shape 47"/>
          <p:cNvSpPr/>
          <p:nvPr/>
        </p:nvSpPr>
        <p:spPr>
          <a:xfrm>
            <a:off x="7223760" y="4709160"/>
            <a:ext cx="4553712" cy="1645920"/>
          </a:xfrm>
          <a:prstGeom prst="roundRect">
            <a:avLst>
              <a:gd name="adj" fmla="val 3333"/>
            </a:avLst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1210544" y="48280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4DCEF"/>
            </a:solidFill>
            <a:prstDash val="solid"/>
          </a:ln>
        </p:spPr>
      </p:sp>
      <p:pic>
        <p:nvPicPr>
          <p:cNvPr id="55" name="Image 4" descr="icons/FcOrganiz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4311" y="4881799"/>
            <a:ext cx="276515" cy="276515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7406640" y="4828032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ACCENTURE WINS WITH THIS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7406640" y="5074920"/>
            <a:ext cx="4187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productises what the Responsible AI practice already does manually. Thousands of GenAI delivery engagements are the install base; the assessment, the signed severity methodology and the managed bench are services only a delivery firm can sell at scale.</a:t>
            </a:r>
            <a:endParaRPr lang="en-US" sz="950" dirty="0"/>
          </a:p>
        </p:txBody>
      </p:sp>
      <p:sp>
        <p:nvSpPr>
          <p:cNvPr id="58" name="Text 51"/>
          <p:cNvSpPr txBox="1"/>
          <p:nvPr/>
        </p:nvSpPr>
        <p:spPr>
          <a:xfrm>
            <a:off x="7406640" y="6016752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at the brief's volume: ≈ ₹25L/yr per client vs ₹1.2Cr+ modelled avoided loss (section 06).</a:t>
            </a:r>
            <a:endParaRPr lang="en-US" sz="800" dirty="0"/>
          </a:p>
        </p:txBody>
      </p:sp>
      <p:sp>
        <p:nvSpPr>
          <p:cNvPr id="59" name="Text 52"/>
          <p:cNvSpPr txBox="1"/>
          <p:nvPr/>
        </p:nvSpPr>
        <p:spPr>
          <a:xfrm>
            <a:off x="411480" y="65105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at brief volume: ≈ ₹25L/yr per client (3 use cases + managed service) vs ₹1.2Cr+ modelled avoided loss (06). Competitor placements: public positioning, 2026.</a:t>
            </a:r>
            <a:endParaRPr lang="en-US" sz="750" dirty="0"/>
          </a:p>
        </p:txBody>
      </p:sp>
      <p:sp>
        <p:nvSpPr>
          <p:cNvPr id="60" name="Text 53"/>
          <p:cNvSpPr txBox="1"/>
          <p:nvPr/>
        </p:nvSpPr>
        <p:spPr>
          <a:xfrm>
            <a:off x="8897112" y="6510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Detailed Business Proposal ·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600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74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PROPOSAL · PHASED ROADMAP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4846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episode layer runs from day zero - phases only expand its authority to act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11365992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1600200"/>
            <a:ext cx="7315" cy="3127248"/>
          </a:xfrm>
          <a:prstGeom prst="rect">
            <a:avLst/>
          </a:prstGeom>
          <a:solidFill>
            <a:srgbClr val="EFEC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14600" y="4745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287012" y="1600200"/>
            <a:ext cx="7315" cy="3127248"/>
          </a:xfrm>
          <a:prstGeom prst="rect">
            <a:avLst/>
          </a:prstGeom>
          <a:solidFill>
            <a:srgbClr val="EFEC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12692" y="4745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785104" y="1600200"/>
            <a:ext cx="7315" cy="3127248"/>
          </a:xfrm>
          <a:prstGeom prst="rect">
            <a:avLst/>
          </a:prstGeom>
          <a:solidFill>
            <a:srgbClr val="EFEC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10784" y="4745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6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283196" y="1600200"/>
            <a:ext cx="7315" cy="3127248"/>
          </a:xfrm>
          <a:prstGeom prst="rect">
            <a:avLst/>
          </a:prstGeom>
          <a:solidFill>
            <a:srgbClr val="EFEC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08876" y="4745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9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781288" y="1600200"/>
            <a:ext cx="7315" cy="3127248"/>
          </a:xfrm>
          <a:prstGeom prst="rect">
            <a:avLst/>
          </a:prstGeom>
          <a:solidFill>
            <a:srgbClr val="EFEC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6968" y="4745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12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279380" y="1600200"/>
            <a:ext cx="7315" cy="3127248"/>
          </a:xfrm>
          <a:prstGeom prst="rect">
            <a:avLst/>
          </a:prstGeom>
          <a:solidFill>
            <a:srgbClr val="EFEC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05060" y="4745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15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1777472" y="1600200"/>
            <a:ext cx="7315" cy="3127248"/>
          </a:xfrm>
          <a:prstGeom prst="rect">
            <a:avLst/>
          </a:prstGeom>
          <a:solidFill>
            <a:srgbClr val="EFEC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503152" y="4745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18</a:t>
            </a:r>
            <a:endParaRPr lang="en-US" sz="750" dirty="0"/>
          </a:p>
        </p:txBody>
      </p:sp>
      <p:pic>
        <p:nvPicPr>
          <p:cNvPr id="21" name="Image 0" descr="icons/Fc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18488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68680" y="16459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· OBSERVE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788920" y="1645920"/>
            <a:ext cx="749046" cy="310896"/>
          </a:xfrm>
          <a:prstGeom prst="roundRect">
            <a:avLst>
              <a:gd name="adj" fmla="val 23529"/>
            </a:avLst>
          </a:prstGeom>
          <a:solidFill>
            <a:srgbClr val="18803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862072" y="1984248"/>
            <a:ext cx="3675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on exported logs → shadow · full episode ledger, zero enforcement</a:t>
            </a:r>
            <a:endParaRPr lang="en-US" sz="800" dirty="0"/>
          </a:p>
        </p:txBody>
      </p:sp>
      <p:pic>
        <p:nvPicPr>
          <p:cNvPr id="25" name="Image 1" descr="icons/Fc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3172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68680" y="235915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ENFORCE RESPONSES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3537966" y="2359152"/>
            <a:ext cx="998728" cy="310896"/>
          </a:xfrm>
          <a:prstGeom prst="roundRect">
            <a:avLst>
              <a:gd name="adj" fmla="val 23529"/>
            </a:avLst>
          </a:prstGeom>
          <a:solidFill>
            <a:srgbClr val="1A73E8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3611118" y="2697480"/>
            <a:ext cx="392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lane live at a conservative operating point · overrides feed retune</a:t>
            </a:r>
            <a:endParaRPr lang="en-US" sz="800" dirty="0"/>
          </a:p>
        </p:txBody>
      </p:sp>
      <p:pic>
        <p:nvPicPr>
          <p:cNvPr id="29" name="Image 2" descr="icons/F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44952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68680" y="307238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ENFORCE EPISODES &amp; ACTIONS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4786376" y="3072384"/>
            <a:ext cx="1997456" cy="310896"/>
          </a:xfrm>
          <a:prstGeom prst="roundRect">
            <a:avLst>
              <a:gd name="adj" fmla="val 23529"/>
            </a:avLst>
          </a:prstGeom>
          <a:solidFill>
            <a:srgbClr val="7500C0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859528" y="3410712"/>
            <a:ext cx="4923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+ action gate get hold/block authority on the regulated lane</a:t>
            </a:r>
            <a:endParaRPr lang="en-US" sz="800" dirty="0"/>
          </a:p>
        </p:txBody>
      </p:sp>
      <p:pic>
        <p:nvPicPr>
          <p:cNvPr id="33" name="Image 3" descr="icons/Fc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758184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868680" y="378561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ESTATE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6783832" y="3785616"/>
            <a:ext cx="4993640" cy="310896"/>
          </a:xfrm>
          <a:prstGeom prst="roundRect">
            <a:avLst>
              <a:gd name="adj" fmla="val 23529"/>
            </a:avLst>
          </a:prstGeom>
          <a:solidFill>
            <a:srgbClr val="460073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856984" y="4123944"/>
            <a:ext cx="791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lanes · jurisdiction packs · detector-adapter marketplace · cross-estate identity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3424022" y="1737360"/>
            <a:ext cx="128016" cy="128016"/>
          </a:xfrm>
          <a:prstGeom prst="diamond">
            <a:avLst/>
          </a:prstGeom>
          <a:solidFill>
            <a:srgbClr val="B26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472686" y="2450592"/>
            <a:ext cx="128016" cy="128016"/>
          </a:xfrm>
          <a:prstGeom prst="diamond">
            <a:avLst/>
          </a:prstGeom>
          <a:solidFill>
            <a:srgbClr val="B26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719824" y="3163824"/>
            <a:ext cx="128016" cy="128016"/>
          </a:xfrm>
          <a:prstGeom prst="diamond">
            <a:avLst/>
          </a:prstGeom>
          <a:solidFill>
            <a:srgbClr val="B26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1713464" y="3877056"/>
            <a:ext cx="128016" cy="128016"/>
          </a:xfrm>
          <a:prstGeom prst="diamond">
            <a:avLst/>
          </a:prstGeom>
          <a:solidFill>
            <a:srgbClr val="B26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2788920" y="4471416"/>
            <a:ext cx="8988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= contract-grade milestone: severity table signed (wk 6) · first enforcement (wk 14) · gate authority (mo 8) · estate-wide (mo 18)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7772400" y="1581912"/>
            <a:ext cx="3867912" cy="1060704"/>
          </a:xfrm>
          <a:prstGeom prst="roundRect">
            <a:avLst>
              <a:gd name="adj" fmla="val 5172"/>
            </a:avLst>
          </a:prstGeom>
          <a:solidFill>
            <a:srgbClr val="FBF8FF"/>
          </a:solidFill>
          <a:ln w="12700">
            <a:solidFill>
              <a:srgbClr val="7500C0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7909560" y="1673352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FROM WEEK 0 - IN SHADOW</a:t>
            </a:r>
            <a:endParaRPr lang="en-US" sz="800" dirty="0"/>
          </a:p>
        </p:txBody>
      </p:sp>
      <p:sp>
        <p:nvSpPr>
          <p:cNvPr id="44" name="Text 38"/>
          <p:cNvSpPr txBox="1"/>
          <p:nvPr/>
        </p:nvSpPr>
        <p:spPr>
          <a:xfrm>
            <a:off x="7909560" y="1892808"/>
            <a:ext cx="3593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episode ledger · ₹ budget calibration on benign traffic · FP/FN baseline · the episode risk report. Capability never waits for authority - only enforcement does.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411480" y="4983480"/>
            <a:ext cx="5568696" cy="1371600"/>
          </a:xfrm>
          <a:prstGeom prst="roundRect">
            <a:avLst>
              <a:gd name="adj" fmla="val 4000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46" name="Image 4" descr="icons/FcTodo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5084064"/>
            <a:ext cx="347472" cy="347472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594360" y="5102352"/>
            <a:ext cx="5202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FOLLOWS EVIDENCE - THE EXIT CRITERIA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594360" y="53583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868680" y="5358384"/>
            <a:ext cx="4928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→ 1: measured FP/FN baseline accepted by operations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594360" y="56692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868680" y="5669280"/>
            <a:ext cx="4928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→ 2: overturn rate below the agreed threshold on live traffic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594360" y="59801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868680" y="5980176"/>
            <a:ext cx="4928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→ 3: gate holds sustained with zero unjustified action blocks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6208776" y="4983480"/>
            <a:ext cx="556869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55" name="Image 5" descr="icons/FcIde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0" y="5084064"/>
            <a:ext cx="347472" cy="347472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6391656" y="5102352"/>
            <a:ext cx="5202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SEQUENCING WINS DEALS</a:t>
            </a:r>
            <a:endParaRPr lang="en-US" sz="900" dirty="0"/>
          </a:p>
        </p:txBody>
      </p:sp>
      <p:sp>
        <p:nvSpPr>
          <p:cNvPr id="57" name="Text 49"/>
          <p:cNvSpPr txBox="1"/>
          <p:nvPr/>
        </p:nvSpPr>
        <p:spPr>
          <a:xfrm>
            <a:off x="6391656" y="5358384"/>
            <a:ext cx="4974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 is never deferred: the client sees their own episode risk in week 2, in ₹, against a severity table their risk office signed. Enforcement then follows measured trust - exactly how the brief says the over-/under-flagging trade-off must be handled.</a:t>
            </a:r>
            <a:endParaRPr lang="en-US" sz="950" dirty="0"/>
          </a:p>
        </p:txBody>
      </p:sp>
      <p:sp>
        <p:nvSpPr>
          <p:cNvPr id="58" name="Text 50"/>
          <p:cNvSpPr txBox="1"/>
          <p:nvPr/>
        </p:nvSpPr>
        <p:spPr>
          <a:xfrm>
            <a:off x="411480" y="65105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durations from the land-motion design (07); shadow-first sequencing per the brief's over-/under-flagging complexity.</a:t>
            </a:r>
            <a:endParaRPr lang="en-US" sz="750" dirty="0"/>
          </a:p>
        </p:txBody>
      </p:sp>
      <p:sp>
        <p:nvSpPr>
          <p:cNvPr id="59" name="Text 51"/>
          <p:cNvSpPr txBox="1"/>
          <p:nvPr/>
        </p:nvSpPr>
        <p:spPr>
          <a:xfrm>
            <a:off x="8897112" y="6510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Detailed Business Proposal ·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600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74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PROPOSAL · KEY RISKS &amp; MITIGATIONS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4846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risks, six shipped countermeasures - plus scope stated before you ask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763524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3533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False-positive fatigue → users bypass the checker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1517904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54680" y="15179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135331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Shadow-first · operating point is the client's dial on a measured sweep · 0 false flags / 0/47 false holds measured · overturn-rate watch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130552"/>
            <a:ext cx="7635240" cy="768096"/>
          </a:xfrm>
          <a:prstGeom prst="roundRect">
            <a:avLst>
              <a:gd name="adj" fmla="val 7143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" y="220370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regression breaks customer experience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2368296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54680" y="23682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20370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Per-detector timeouts under each pack's budget · degraded coverage debits MORE risk · 12.6 ms p50 measured · stateless scale-out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980944"/>
            <a:ext cx="763524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" y="305409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checker itself fails or is attacked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54680" y="321868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54680" y="3218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305409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Fail-open (chat) / fail-closed (regulated) per pack · Tier 0 never sheds · ingress gate blocks poisoned documents · GuardFall-informed red-teaming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831336"/>
            <a:ext cx="7635240" cy="768096"/>
          </a:xfrm>
          <a:prstGeom prst="roundRect">
            <a:avLst>
              <a:gd name="adj" fmla="val 7143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784" y="39044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drift / model or vendor change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406908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154680" y="4069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3794760" y="390448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recalibration vs a frozen canary set · model fingerprint on every decision · pluggable adapters - swap vendors, keep governance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4681728"/>
            <a:ext cx="763524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ledger becomes a privacy liability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54680" y="491947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154680" y="49194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3794760" y="47548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Keyed-HMAC digests, no raw text at rest · quarantined feedback store · retention policy per jurisdiction pack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5532120"/>
            <a:ext cx="7635240" cy="768096"/>
          </a:xfrm>
          <a:prstGeom prst="roundRect">
            <a:avLst>
              <a:gd name="adj" fmla="val 7143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7784" y="560527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fast-follow the episode concept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54680" y="5769864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154680" y="57698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3794760" y="560527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= unit of account + signed severity methodology + Accenture install base - following requires abandoning per-response pricing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6382512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= residual risk after mitigation. Column: risk · residual · countermeasure shipped in the prototype today.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321040" y="1280160"/>
            <a:ext cx="3456432" cy="2148840"/>
          </a:xfrm>
          <a:prstGeom prst="roundRect">
            <a:avLst>
              <a:gd name="adj" fmla="val 2553"/>
            </a:avLst>
          </a:prstGeom>
          <a:solidFill>
            <a:srgbClr val="FEF3E0"/>
          </a:solidFill>
          <a:ln w="12700">
            <a:solidFill>
              <a:srgbClr val="FEF3E0"/>
            </a:solidFill>
            <a:prstDash val="solid"/>
          </a:ln>
        </p:spPr>
      </p:sp>
      <p:pic>
        <p:nvPicPr>
          <p:cNvPr id="38" name="Image 0" descr="icons/FcInsp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1389888"/>
            <a:ext cx="347472" cy="347472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8503920" y="139903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SCOPE - SAID BEFORE YOU ASK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8503920" y="1664208"/>
            <a:ext cx="30906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rates come from a 3,488-record seeded synthetic benchmark - labels true by construction; real-traffic rates are established in the shadow phase (that is what it is for). Lite profile = deterministic + lexical detectors; NLI and LLM-judge adapters are integrated but optional - values under 10 (a '3-year' vs '1-year' claim) are their job, not the lexical path's. A blind hold-out slot, authored by whoever didn't build the detectors, is scored separately.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8321040" y="3611880"/>
            <a:ext cx="3456432" cy="2752344"/>
          </a:xfrm>
          <a:prstGeom prst="roundRect">
            <a:avLst>
              <a:gd name="adj" fmla="val 1993"/>
            </a:avLst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1210544" y="373075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4DCEF"/>
            </a:solidFill>
            <a:prstDash val="solid"/>
          </a:ln>
        </p:spPr>
      </p:sp>
      <p:pic>
        <p:nvPicPr>
          <p:cNvPr id="43" name="Image 1" descr="icons/Fc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311" y="3784519"/>
            <a:ext cx="276515" cy="276515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8503920" y="374904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- VERIFY IN 10 MIN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8503920" y="4096512"/>
            <a:ext cx="3090672" cy="310896"/>
          </a:xfrm>
          <a:prstGeom prst="roundRect">
            <a:avLst>
              <a:gd name="adj" fmla="val 17647"/>
            </a:avLst>
          </a:prstGeom>
          <a:solidFill>
            <a:srgbClr val="2E0A4E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8613648" y="40965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8503920" y="442569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+ operator console on :8080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8503920" y="4828032"/>
            <a:ext cx="3090672" cy="310896"/>
          </a:xfrm>
          <a:prstGeom prst="roundRect">
            <a:avLst>
              <a:gd name="adj" fmla="val 17647"/>
            </a:avLst>
          </a:prstGeom>
          <a:solidFill>
            <a:srgbClr val="2E0A4E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8613648" y="482803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demo.run_demo</a:t>
            </a:r>
            <a:endParaRPr lang="en-US" sz="950" dirty="0"/>
          </a:p>
        </p:txBody>
      </p:sp>
      <p:sp>
        <p:nvSpPr>
          <p:cNvPr id="50" name="Text 46"/>
          <p:cNvSpPr txBox="1"/>
          <p:nvPr/>
        </p:nvSpPr>
        <p:spPr>
          <a:xfrm>
            <a:off x="8503920" y="515721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10-act scripted demo, fully offline</a:t>
            </a:r>
            <a:endParaRPr lang="en-US" sz="800" dirty="0"/>
          </a:p>
        </p:txBody>
      </p:sp>
      <p:sp>
        <p:nvSpPr>
          <p:cNvPr id="51" name="Shape 47"/>
          <p:cNvSpPr/>
          <p:nvPr/>
        </p:nvSpPr>
        <p:spPr>
          <a:xfrm>
            <a:off x="8503920" y="5559552"/>
            <a:ext cx="3090672" cy="310896"/>
          </a:xfrm>
          <a:prstGeom prst="roundRect">
            <a:avLst>
              <a:gd name="adj" fmla="val 17647"/>
            </a:avLst>
          </a:prstGeom>
          <a:solidFill>
            <a:srgbClr val="2E0A4E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8613648" y="555955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evals.run</a:t>
            </a:r>
            <a:endParaRPr lang="en-US" sz="950" dirty="0"/>
          </a:p>
        </p:txBody>
      </p:sp>
      <p:sp>
        <p:nvSpPr>
          <p:cNvPr id="53" name="Text 49"/>
          <p:cNvSpPr txBox="1"/>
          <p:nvPr/>
        </p:nvSpPr>
        <p:spPr>
          <a:xfrm>
            <a:off x="8503920" y="588873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every number in this proposal</a:t>
            </a:r>
            <a:endParaRPr lang="en-US" sz="800" dirty="0"/>
          </a:p>
        </p:txBody>
      </p:sp>
      <p:sp>
        <p:nvSpPr>
          <p:cNvPr id="54" name="Text 50"/>
          <p:cNvSpPr txBox="1"/>
          <p:nvPr/>
        </p:nvSpPr>
        <p:spPr>
          <a:xfrm>
            <a:off x="411480" y="65105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mitigations verifiable in the repository: tests (53 passing), demo acts 7-9 (failure modes), policy packs, ledger verification endpoint.</a:t>
            </a:r>
            <a:endParaRPr lang="en-US" sz="750" dirty="0"/>
          </a:p>
        </p:txBody>
      </p:sp>
      <p:sp>
        <p:nvSpPr>
          <p:cNvPr id="55" name="Text 51"/>
          <p:cNvSpPr txBox="1"/>
          <p:nvPr/>
        </p:nvSpPr>
        <p:spPr>
          <a:xfrm>
            <a:off x="8897112" y="6510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Detailed Business Proposal ·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600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74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4846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in this deck, its source file, and the command that reproduces it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676656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7" name="Image 0" descr="icons/Fc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976" y="137160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13898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RESULTS - TEST SPLIT, 2,381 OF 3,488 SEEDED RECORDS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00784"/>
          <a:ext cx="6400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600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600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600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 CI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600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flags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Grounding (unsupported claim)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96.4% (402/417)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[94.2, 97.8]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1,964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 (PII)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(132/132)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[97.2, 100]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2,249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Toxicity / harmful language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(96/96)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[96.2, 100]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2,285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injection (incl. indirect)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(68/68)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[94.7, 100]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2,313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anomalies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(26/26)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[87.1, 100]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2,355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94360" y="36758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gate 41/41 tainted held · 0/47 false holds  |  abstention 43/43  |  ECE 0.065  |  labels are true by construction (failures injected on purpose)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11480" y="4133088"/>
            <a:ext cx="6766560" cy="2231136"/>
          </a:xfrm>
          <a:prstGeom prst="roundRect">
            <a:avLst>
              <a:gd name="adj" fmla="val 2459"/>
            </a:avLst>
          </a:prstGeom>
          <a:solidFill>
            <a:srgbClr val="FBF8FF"/>
          </a:solidFill>
          <a:ln w="12700">
            <a:solidFill>
              <a:srgbClr val="E4DCEF"/>
            </a:solidFill>
            <a:prstDash val="solid"/>
          </a:ln>
        </p:spPr>
      </p:sp>
      <p:pic>
        <p:nvPicPr>
          <p:cNvPr id="12" name="Image 1" descr="icons/Fc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42245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4360" y="424281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DECK NUMBER LIVES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94360" y="45537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96.4-100% recall · CIs · 0 false flags · ECE</a:t>
            </a:r>
            <a:endParaRPr lang="en-US" sz="850" dirty="0"/>
          </a:p>
        </p:txBody>
      </p:sp>
      <p:sp>
        <p:nvSpPr>
          <p:cNvPr id="15" name="Text 10"/>
          <p:cNvSpPr txBox="1"/>
          <p:nvPr/>
        </p:nvSpPr>
        <p:spPr>
          <a:xfrm>
            <a:off x="4617720" y="4553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evals/out/results.json</a:t>
            </a:r>
            <a:endParaRPr lang="en-US" sz="800" dirty="0"/>
          </a:p>
        </p:txBody>
      </p:sp>
      <p:sp>
        <p:nvSpPr>
          <p:cNvPr id="16" name="Text 11"/>
          <p:cNvSpPr txBox="1"/>
          <p:nvPr/>
        </p:nvSpPr>
        <p:spPr>
          <a:xfrm>
            <a:off x="594360" y="49011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vs FP threshold curves (operating point)</a:t>
            </a:r>
            <a:endParaRPr lang="en-US" sz="850" dirty="0"/>
          </a:p>
        </p:txBody>
      </p:sp>
      <p:sp>
        <p:nvSpPr>
          <p:cNvPr id="17" name="Text 12"/>
          <p:cNvSpPr txBox="1"/>
          <p:nvPr/>
        </p:nvSpPr>
        <p:spPr>
          <a:xfrm>
            <a:off x="4617720" y="49011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evals/out/operating_sweep.json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594360" y="52486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 ms p50 · 20.3 ms p95 · 108 req/s · 0.04% spend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4617720" y="52486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evals/out/load_test.json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594360" y="55961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₹103,467 vs ₹100,000 turn-7 escalation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4617720" y="5596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act 6 (deterministic, offline)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594360" y="59436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4.8× ROI floor · ₹25L cost · scenario band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4617720" y="5943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stated assumptions (section 05)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7452360" y="1280160"/>
            <a:ext cx="4325112" cy="2395728"/>
          </a:xfrm>
          <a:prstGeom prst="roundRect">
            <a:avLst>
              <a:gd name="adj" fmla="val 2290"/>
            </a:avLst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210544" y="138988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4DCEF"/>
            </a:solidFill>
            <a:prstDash val="solid"/>
          </a:ln>
        </p:spPr>
      </p:sp>
      <p:pic>
        <p:nvPicPr>
          <p:cNvPr id="26" name="Image 2" descr="icons/Fc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4311" y="1443655"/>
            <a:ext cx="276515" cy="27651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635240" y="1408176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EVERYTHING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635240" y="1755648"/>
            <a:ext cx="3959352" cy="256032"/>
          </a:xfrm>
          <a:prstGeom prst="roundRect">
            <a:avLst>
              <a:gd name="adj" fmla="val 17857"/>
            </a:avLst>
          </a:prstGeom>
          <a:solidFill>
            <a:srgbClr val="2E0A4E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726680" y="175564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tests/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7635240" y="2011680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tests on the mechanisms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7635240" y="2231136"/>
            <a:ext cx="3959352" cy="256032"/>
          </a:xfrm>
          <a:prstGeom prst="roundRect">
            <a:avLst>
              <a:gd name="adj" fmla="val 17857"/>
            </a:avLst>
          </a:prstGeom>
          <a:solidFill>
            <a:srgbClr val="2E0A4E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7726680" y="223113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evals.generate</a:t>
            </a:r>
            <a:endParaRPr lang="en-US" sz="850" dirty="0"/>
          </a:p>
        </p:txBody>
      </p:sp>
      <p:sp>
        <p:nvSpPr>
          <p:cNvPr id="33" name="Text 27"/>
          <p:cNvSpPr txBox="1"/>
          <p:nvPr/>
        </p:nvSpPr>
        <p:spPr>
          <a:xfrm>
            <a:off x="7635240" y="2487168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3,488-record dataset, byte-identical</a:t>
            </a:r>
            <a:endParaRPr lang="en-US" sz="750" dirty="0"/>
          </a:p>
        </p:txBody>
      </p:sp>
      <p:sp>
        <p:nvSpPr>
          <p:cNvPr id="34" name="Shape 28"/>
          <p:cNvSpPr/>
          <p:nvPr/>
        </p:nvSpPr>
        <p:spPr>
          <a:xfrm>
            <a:off x="7635240" y="2706624"/>
            <a:ext cx="3959352" cy="256032"/>
          </a:xfrm>
          <a:prstGeom prst="roundRect">
            <a:avLst>
              <a:gd name="adj" fmla="val 17857"/>
            </a:avLst>
          </a:prstGeom>
          <a:solidFill>
            <a:srgbClr val="2E0A4E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7726680" y="27066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evals.run</a:t>
            </a:r>
            <a:endParaRPr lang="en-US" sz="850" dirty="0"/>
          </a:p>
        </p:txBody>
      </p:sp>
      <p:sp>
        <p:nvSpPr>
          <p:cNvPr id="36" name="Text 30"/>
          <p:cNvSpPr txBox="1"/>
          <p:nvPr/>
        </p:nvSpPr>
        <p:spPr>
          <a:xfrm>
            <a:off x="7635240" y="2962656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recall, CIs, calibration, sweep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7635240" y="3182112"/>
            <a:ext cx="3959352" cy="256032"/>
          </a:xfrm>
          <a:prstGeom prst="roundRect">
            <a:avLst>
              <a:gd name="adj" fmla="val 17857"/>
            </a:avLst>
          </a:prstGeom>
          <a:solidFill>
            <a:srgbClr val="2E0A4E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726680" y="318211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demo.run_demo</a:t>
            </a:r>
            <a:endParaRPr lang="en-US" sz="850" dirty="0"/>
          </a:p>
        </p:txBody>
      </p:sp>
      <p:sp>
        <p:nvSpPr>
          <p:cNvPr id="39" name="Text 33"/>
          <p:cNvSpPr txBox="1"/>
          <p:nvPr/>
        </p:nvSpPr>
        <p:spPr>
          <a:xfrm>
            <a:off x="7635240" y="3438144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10-act scripted demo, offline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7452360" y="3858768"/>
            <a:ext cx="4325112" cy="2505456"/>
          </a:xfrm>
          <a:prstGeom prst="roundRect">
            <a:avLst>
              <a:gd name="adj" fmla="val 2190"/>
            </a:avLst>
          </a:prstGeom>
          <a:solidFill>
            <a:srgbClr val="FEF3E0"/>
          </a:solidFill>
          <a:ln w="12700">
            <a:solidFill>
              <a:srgbClr val="FEF3E0"/>
            </a:solidFill>
            <a:prstDash val="solid"/>
          </a:ln>
        </p:spPr>
      </p:sp>
      <p:pic>
        <p:nvPicPr>
          <p:cNvPr id="41" name="Image 3" descr="icons/FcRu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08" y="3950208"/>
            <a:ext cx="329184" cy="329184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635240" y="3968496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REGISTER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7635240" y="42428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44" name="Text 37"/>
          <p:cNvSpPr txBox="1"/>
          <p:nvPr/>
        </p:nvSpPr>
        <p:spPr>
          <a:xfrm>
            <a:off x="7909560" y="4242816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2.1M interactions/yr - the brief's own parameter</a:t>
            </a:r>
            <a:endParaRPr lang="en-US" sz="850" dirty="0"/>
          </a:p>
        </p:txBody>
      </p:sp>
      <p:sp>
        <p:nvSpPr>
          <p:cNvPr id="45" name="Text 38"/>
          <p:cNvSpPr txBox="1"/>
          <p:nvPr/>
        </p:nvSpPr>
        <p:spPr>
          <a:xfrm>
            <a:off x="7635240" y="458114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46" name="Text 39"/>
          <p:cNvSpPr txBox="1"/>
          <p:nvPr/>
        </p:nvSpPr>
        <p:spPr>
          <a:xfrm>
            <a:off x="7909560" y="4581144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Material-failure rate 1.0% - measured in shadow phase</a:t>
            </a:r>
            <a:endParaRPr lang="en-US" sz="850" dirty="0"/>
          </a:p>
        </p:txBody>
      </p:sp>
      <p:sp>
        <p:nvSpPr>
          <p:cNvPr id="47" name="Text 40"/>
          <p:cNvSpPr txBox="1"/>
          <p:nvPr/>
        </p:nvSpPr>
        <p:spPr>
          <a:xfrm>
            <a:off x="7635240" y="49194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48" name="Text 41"/>
          <p:cNvSpPr txBox="1"/>
          <p:nvPr/>
        </p:nvSpPr>
        <p:spPr>
          <a:xfrm>
            <a:off x="7909560" y="4919472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₹600 per failure reaching a user (remediation + concession)</a:t>
            </a:r>
            <a:endParaRPr lang="en-US" sz="850" dirty="0"/>
          </a:p>
        </p:txBody>
      </p:sp>
      <p:sp>
        <p:nvSpPr>
          <p:cNvPr id="49" name="Text 42"/>
          <p:cNvSpPr txBox="1"/>
          <p:nvPr/>
        </p:nvSpPr>
        <p:spPr>
          <a:xfrm>
            <a:off x="7635240" y="5257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50" name="Text 43"/>
          <p:cNvSpPr txBox="1"/>
          <p:nvPr/>
        </p:nvSpPr>
        <p:spPr>
          <a:xfrm>
            <a:off x="7909560" y="5257800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table signed by the client's risk office at land</a:t>
            </a:r>
            <a:endParaRPr lang="en-US" sz="850" dirty="0"/>
          </a:p>
        </p:txBody>
      </p:sp>
      <p:sp>
        <p:nvSpPr>
          <p:cNvPr id="51" name="Text 44"/>
          <p:cNvSpPr txBox="1"/>
          <p:nvPr/>
        </p:nvSpPr>
        <p:spPr>
          <a:xfrm>
            <a:off x="7635240" y="55961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52" name="Text 45"/>
          <p:cNvSpPr txBox="1"/>
          <p:nvPr/>
        </p:nvSpPr>
        <p:spPr>
          <a:xfrm>
            <a:off x="7909560" y="5596128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cost ₹0.04/1K tokens · judge call ₹0.05 (config.py)</a:t>
            </a:r>
            <a:endParaRPr lang="en-US" sz="850" dirty="0"/>
          </a:p>
        </p:txBody>
      </p:sp>
      <p:sp>
        <p:nvSpPr>
          <p:cNvPr id="53" name="Text 46"/>
          <p:cNvSpPr txBox="1"/>
          <p:nvPr/>
        </p:nvSpPr>
        <p:spPr>
          <a:xfrm>
            <a:off x="7635240" y="5934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54" name="Text 47"/>
          <p:cNvSpPr txBox="1"/>
          <p:nvPr/>
        </p:nvSpPr>
        <p:spPr>
          <a:xfrm>
            <a:off x="7909560" y="5934456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Severities and budgets are policy-pack data, not code</a:t>
            </a:r>
            <a:endParaRPr lang="en-US" sz="850" dirty="0"/>
          </a:p>
        </p:txBody>
      </p:sp>
      <p:sp>
        <p:nvSpPr>
          <p:cNvPr id="55" name="Text 48"/>
          <p:cNvSpPr txBox="1"/>
          <p:nvPr/>
        </p:nvSpPr>
        <p:spPr>
          <a:xfrm>
            <a:off x="411480" y="65105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repository: all files above ship in the repo; a fresh clone reproduces this table with three commands.</a:t>
            </a:r>
            <a:endParaRPr lang="en-US" sz="750" dirty="0"/>
          </a:p>
        </p:txBody>
      </p:sp>
      <p:sp>
        <p:nvSpPr>
          <p:cNvPr id="56" name="Text 49"/>
          <p:cNvSpPr txBox="1"/>
          <p:nvPr/>
        </p:nvSpPr>
        <p:spPr>
          <a:xfrm>
            <a:off x="8897112" y="6510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ControlPlane · Detailed Business Proposal · 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2026-09-02T08:31:58Z</dcterms:created>
  <dcterms:modified xsi:type="dcterms:W3CDTF">2026-09-02T08:31:58Z</dcterms:modified>
</cp:coreProperties>
</file>