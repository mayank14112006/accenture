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46007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74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DATA SOURCES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33272" y="484632"/>
            <a:ext cx="1074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data point in this proposal and exactly where it comes from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3636264" cy="4846320"/>
          </a:xfrm>
          <a:prstGeom prst="roundRect">
            <a:avLst>
              <a:gd name="adj" fmla="val 1509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pic>
        <p:nvPicPr>
          <p:cNvPr id="7" name="Image 0" descr="icons/FcBar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2256" y="1161288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76072" y="1179576"/>
            <a:ext cx="2996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- FILE IN THE REPOSITORY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76072" y="1481328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recall 96.4% (402/417) + 95% CI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2328824" y="1481328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750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evals/out/results.json</a:t>
            </a:r>
            <a:endParaRPr lang="en-US" sz="680" dirty="0"/>
          </a:p>
        </p:txBody>
      </p:sp>
      <p:sp>
        <p:nvSpPr>
          <p:cNvPr id="11" name="Text 8"/>
          <p:cNvSpPr txBox="1"/>
          <p:nvPr/>
        </p:nvSpPr>
        <p:spPr>
          <a:xfrm>
            <a:off x="576072" y="1792224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/ toxicity / injection / cost recall 100%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2328824" y="1792224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750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evals/out/results.json</a:t>
            </a:r>
            <a:endParaRPr lang="en-US" sz="680" dirty="0"/>
          </a:p>
        </p:txBody>
      </p:sp>
      <p:sp>
        <p:nvSpPr>
          <p:cNvPr id="13" name="Text 10"/>
          <p:cNvSpPr txBox="1"/>
          <p:nvPr/>
        </p:nvSpPr>
        <p:spPr>
          <a:xfrm>
            <a:off x="576072" y="2103120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false flags per category (1,964-2,355 benign)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2328824" y="2103120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750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evals/out/results.json</a:t>
            </a:r>
            <a:endParaRPr lang="en-US" sz="680" dirty="0"/>
          </a:p>
        </p:txBody>
      </p:sp>
      <p:sp>
        <p:nvSpPr>
          <p:cNvPr id="15" name="Text 12"/>
          <p:cNvSpPr txBox="1"/>
          <p:nvPr/>
        </p:nvSpPr>
        <p:spPr>
          <a:xfrm>
            <a:off x="576072" y="2414016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gate 41/41 held · 0/47 false holds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2328824" y="2414016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750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evals/out/results.json</a:t>
            </a:r>
            <a:endParaRPr lang="en-US" sz="680" dirty="0"/>
          </a:p>
        </p:txBody>
      </p:sp>
      <p:sp>
        <p:nvSpPr>
          <p:cNvPr id="17" name="Text 14"/>
          <p:cNvSpPr txBox="1"/>
          <p:nvPr/>
        </p:nvSpPr>
        <p:spPr>
          <a:xfrm>
            <a:off x="576072" y="2724912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Abstention 43/43 · ECE 0.065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2328824" y="2724912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750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evals/out/results.json</a:t>
            </a:r>
            <a:endParaRPr lang="en-US" sz="680" dirty="0"/>
          </a:p>
        </p:txBody>
      </p:sp>
      <p:sp>
        <p:nvSpPr>
          <p:cNvPr id="19" name="Text 16"/>
          <p:cNvSpPr txBox="1"/>
          <p:nvPr/>
        </p:nvSpPr>
        <p:spPr>
          <a:xfrm>
            <a:off x="576072" y="3035808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vs FP-rate curves by threshold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2328824" y="3035808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750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out/operating_sweep.json</a:t>
            </a:r>
            <a:endParaRPr lang="en-US" sz="680" dirty="0"/>
          </a:p>
        </p:txBody>
      </p:sp>
      <p:sp>
        <p:nvSpPr>
          <p:cNvPr id="21" name="Text 18"/>
          <p:cNvSpPr txBox="1"/>
          <p:nvPr/>
        </p:nvSpPr>
        <p:spPr>
          <a:xfrm>
            <a:off x="576072" y="3346704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Per-detector probability calibration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2328824" y="3346704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750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evals/out/calibration.json</a:t>
            </a:r>
            <a:endParaRPr lang="en-US" sz="680" dirty="0"/>
          </a:p>
        </p:txBody>
      </p:sp>
      <p:sp>
        <p:nvSpPr>
          <p:cNvPr id="23" name="Text 20"/>
          <p:cNvSpPr txBox="1"/>
          <p:nvPr/>
        </p:nvSpPr>
        <p:spPr>
          <a:xfrm>
            <a:off x="576072" y="3657600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weights (risk-weighted recall)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2328824" y="3657600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750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out/coverage_weights.json</a:t>
            </a:r>
            <a:endParaRPr lang="en-US" sz="680" dirty="0"/>
          </a:p>
        </p:txBody>
      </p:sp>
      <p:sp>
        <p:nvSpPr>
          <p:cNvPr id="25" name="Text 22"/>
          <p:cNvSpPr txBox="1"/>
          <p:nvPr/>
        </p:nvSpPr>
        <p:spPr>
          <a:xfrm>
            <a:off x="576072" y="3968496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 ms p50 · 20.3 ms p95 added latency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2328824" y="3968496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750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evals/out/load_test.json</a:t>
            </a:r>
            <a:endParaRPr lang="en-US" sz="680" dirty="0"/>
          </a:p>
        </p:txBody>
      </p:sp>
      <p:sp>
        <p:nvSpPr>
          <p:cNvPr id="27" name="Text 24"/>
          <p:cNvSpPr txBox="1"/>
          <p:nvPr/>
        </p:nvSpPr>
        <p:spPr>
          <a:xfrm>
            <a:off x="576072" y="4279392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 req/s saturation · 0.04% of model spend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2328824" y="4279392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750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evals/out/load_test.json</a:t>
            </a:r>
            <a:endParaRPr lang="en-US" sz="680" dirty="0"/>
          </a:p>
        </p:txBody>
      </p:sp>
      <p:sp>
        <p:nvSpPr>
          <p:cNvPr id="29" name="Text 26"/>
          <p:cNvSpPr txBox="1"/>
          <p:nvPr/>
        </p:nvSpPr>
        <p:spPr>
          <a:xfrm>
            <a:off x="576072" y="4590288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3,488 records, 2,381 test, ~28% injected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2328824" y="4590288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750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evals/generate.py (seed 20260823)</a:t>
            </a:r>
            <a:endParaRPr lang="en-US" sz="680" dirty="0"/>
          </a:p>
        </p:txBody>
      </p:sp>
      <p:sp>
        <p:nvSpPr>
          <p:cNvPr id="31" name="Text 28"/>
          <p:cNvSpPr txBox="1"/>
          <p:nvPr/>
        </p:nvSpPr>
        <p:spPr>
          <a:xfrm>
            <a:off x="576072" y="4901184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Turn-7 escalation ₹103,467 vs ₹100,000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2328824" y="4901184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750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demo/run_demo.py - act 6</a:t>
            </a:r>
            <a:endParaRPr lang="en-US" sz="680" dirty="0"/>
          </a:p>
        </p:txBody>
      </p:sp>
      <p:sp>
        <p:nvSpPr>
          <p:cNvPr id="33" name="Text 30"/>
          <p:cNvSpPr txBox="1"/>
          <p:nvPr/>
        </p:nvSpPr>
        <p:spPr>
          <a:xfrm>
            <a:off x="576072" y="5212080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&gt;96% of checks with no LLM call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2328824" y="5212080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750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act 10 + results.json</a:t>
            </a:r>
            <a:endParaRPr lang="en-US" sz="680" dirty="0"/>
          </a:p>
        </p:txBody>
      </p:sp>
      <p:sp>
        <p:nvSpPr>
          <p:cNvPr id="35" name="Text 32"/>
          <p:cNvSpPr txBox="1"/>
          <p:nvPr/>
        </p:nvSpPr>
        <p:spPr>
          <a:xfrm>
            <a:off x="576072" y="5522976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passing tests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2328824" y="5522976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750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 (python -m pytest)</a:t>
            </a:r>
            <a:endParaRPr lang="en-US" sz="680" dirty="0"/>
          </a:p>
        </p:txBody>
      </p:sp>
      <p:sp>
        <p:nvSpPr>
          <p:cNvPr id="37" name="Shape 34"/>
          <p:cNvSpPr/>
          <p:nvPr/>
        </p:nvSpPr>
        <p:spPr>
          <a:xfrm>
            <a:off x="4276344" y="1051560"/>
            <a:ext cx="3636264" cy="4846320"/>
          </a:xfrm>
          <a:prstGeom prst="roundRect">
            <a:avLst>
              <a:gd name="adj" fmla="val 1509"/>
            </a:avLst>
          </a:prstGeom>
          <a:solidFill>
            <a:srgbClr val="FEF3E0"/>
          </a:solidFill>
          <a:ln w="12700">
            <a:solidFill>
              <a:srgbClr val="FEF3E0"/>
            </a:solidFill>
            <a:prstDash val="solid"/>
          </a:ln>
        </p:spPr>
      </p:sp>
      <p:pic>
        <p:nvPicPr>
          <p:cNvPr id="38" name="Image 1" descr="icons/FcRu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120" y="1161288"/>
            <a:ext cx="310896" cy="310896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4440936" y="1179576"/>
            <a:ext cx="2996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ASSUMPTIONS - WHERE DECLARED</a:t>
            </a:r>
            <a:endParaRPr lang="en-US" sz="950" dirty="0"/>
          </a:p>
        </p:txBody>
      </p:sp>
      <p:sp>
        <p:nvSpPr>
          <p:cNvPr id="40" name="Text 36"/>
          <p:cNvSpPr txBox="1"/>
          <p:nvPr/>
        </p:nvSpPr>
        <p:spPr>
          <a:xfrm>
            <a:off x="4440936" y="1481328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40,000/week = 2.1M interactions/yr</a:t>
            </a:r>
            <a:endParaRPr lang="en-US" sz="850" dirty="0"/>
          </a:p>
        </p:txBody>
      </p:sp>
      <p:sp>
        <p:nvSpPr>
          <p:cNvPr id="41" name="Text 37"/>
          <p:cNvSpPr txBox="1"/>
          <p:nvPr/>
        </p:nvSpPr>
        <p:spPr>
          <a:xfrm>
            <a:off x="6193688" y="1481328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brief, reference parameters</a:t>
            </a:r>
            <a:endParaRPr lang="en-US" sz="800" dirty="0"/>
          </a:p>
        </p:txBody>
      </p:sp>
      <p:sp>
        <p:nvSpPr>
          <p:cNvPr id="42" name="Text 38"/>
          <p:cNvSpPr txBox="1"/>
          <p:nvPr/>
        </p:nvSpPr>
        <p:spPr>
          <a:xfrm>
            <a:off x="4440936" y="1828800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lanes: support, copilot, decision-support</a:t>
            </a:r>
            <a:endParaRPr lang="en-US" sz="850" dirty="0"/>
          </a:p>
        </p:txBody>
      </p:sp>
      <p:sp>
        <p:nvSpPr>
          <p:cNvPr id="43" name="Text 39"/>
          <p:cNvSpPr txBox="1"/>
          <p:nvPr/>
        </p:nvSpPr>
        <p:spPr>
          <a:xfrm>
            <a:off x="6193688" y="1828800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brief, reference parameters</a:t>
            </a:r>
            <a:endParaRPr lang="en-US" sz="800" dirty="0"/>
          </a:p>
        </p:txBody>
      </p:sp>
      <p:sp>
        <p:nvSpPr>
          <p:cNvPr id="44" name="Text 40"/>
          <p:cNvSpPr txBox="1"/>
          <p:nvPr/>
        </p:nvSpPr>
        <p:spPr>
          <a:xfrm>
            <a:off x="4440936" y="2176272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well-/loosely-governed sources</a:t>
            </a:r>
            <a:endParaRPr lang="en-US" sz="850" dirty="0"/>
          </a:p>
        </p:txBody>
      </p:sp>
      <p:sp>
        <p:nvSpPr>
          <p:cNvPr id="45" name="Text 41"/>
          <p:cNvSpPr txBox="1"/>
          <p:nvPr/>
        </p:nvSpPr>
        <p:spPr>
          <a:xfrm>
            <a:off x="6193688" y="2176272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brief, reference parameters</a:t>
            </a:r>
            <a:endParaRPr lang="en-US" sz="800" dirty="0"/>
          </a:p>
        </p:txBody>
      </p:sp>
      <p:sp>
        <p:nvSpPr>
          <p:cNvPr id="46" name="Text 42"/>
          <p:cNvSpPr txBox="1"/>
          <p:nvPr/>
        </p:nvSpPr>
        <p:spPr>
          <a:xfrm>
            <a:off x="4440936" y="2523744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Material-failure rate 1.0% (measured in shadow)</a:t>
            </a:r>
            <a:endParaRPr lang="en-US" sz="850" dirty="0"/>
          </a:p>
        </p:txBody>
      </p:sp>
      <p:sp>
        <p:nvSpPr>
          <p:cNvPr id="47" name="Text 43"/>
          <p:cNvSpPr txBox="1"/>
          <p:nvPr/>
        </p:nvSpPr>
        <p:spPr>
          <a:xfrm>
            <a:off x="6193688" y="2523744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section 05 - assumption</a:t>
            </a:r>
            <a:endParaRPr lang="en-US" sz="800" dirty="0"/>
          </a:p>
        </p:txBody>
      </p:sp>
      <p:sp>
        <p:nvSpPr>
          <p:cNvPr id="48" name="Text 44"/>
          <p:cNvSpPr txBox="1"/>
          <p:nvPr/>
        </p:nvSpPr>
        <p:spPr>
          <a:xfrm>
            <a:off x="4440936" y="2871216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rate 95% (benchmark-derived, rounded)</a:t>
            </a:r>
            <a:endParaRPr lang="en-US" sz="850" dirty="0"/>
          </a:p>
        </p:txBody>
      </p:sp>
      <p:sp>
        <p:nvSpPr>
          <p:cNvPr id="49" name="Text 45"/>
          <p:cNvSpPr txBox="1"/>
          <p:nvPr/>
        </p:nvSpPr>
        <p:spPr>
          <a:xfrm>
            <a:off x="6193688" y="2871216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section 05 - assumption</a:t>
            </a:r>
            <a:endParaRPr lang="en-US" sz="800" dirty="0"/>
          </a:p>
        </p:txBody>
      </p:sp>
      <p:sp>
        <p:nvSpPr>
          <p:cNvPr id="50" name="Text 46"/>
          <p:cNvSpPr txBox="1"/>
          <p:nvPr/>
        </p:nvSpPr>
        <p:spPr>
          <a:xfrm>
            <a:off x="4440936" y="3218688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₹600 remediation + concession per failure</a:t>
            </a:r>
            <a:endParaRPr lang="en-US" sz="850" dirty="0"/>
          </a:p>
        </p:txBody>
      </p:sp>
      <p:sp>
        <p:nvSpPr>
          <p:cNvPr id="51" name="Text 47"/>
          <p:cNvSpPr txBox="1"/>
          <p:nvPr/>
        </p:nvSpPr>
        <p:spPr>
          <a:xfrm>
            <a:off x="6193688" y="3218688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section 05 - assumption</a:t>
            </a:r>
            <a:endParaRPr lang="en-US" sz="800" dirty="0"/>
          </a:p>
        </p:txBody>
      </p:sp>
      <p:sp>
        <p:nvSpPr>
          <p:cNvPr id="52" name="Text 48"/>
          <p:cNvSpPr txBox="1"/>
          <p:nvPr/>
        </p:nvSpPr>
        <p:spPr>
          <a:xfrm>
            <a:off x="4440936" y="3566160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All-in cost ≈ ₹25L/yr incl. ₹7L triage bench</a:t>
            </a:r>
            <a:endParaRPr lang="en-US" sz="850" dirty="0"/>
          </a:p>
        </p:txBody>
      </p:sp>
      <p:sp>
        <p:nvSpPr>
          <p:cNvPr id="53" name="Text 49"/>
          <p:cNvSpPr txBox="1"/>
          <p:nvPr/>
        </p:nvSpPr>
        <p:spPr>
          <a:xfrm>
            <a:off x="6193688" y="3566160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section 05 - worked example</a:t>
            </a:r>
            <a:endParaRPr lang="en-US" sz="800" dirty="0"/>
          </a:p>
        </p:txBody>
      </p:sp>
      <p:sp>
        <p:nvSpPr>
          <p:cNvPr id="54" name="Text 50"/>
          <p:cNvSpPr txBox="1"/>
          <p:nvPr/>
        </p:nvSpPr>
        <p:spPr>
          <a:xfrm>
            <a:off x="4440936" y="3913632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floor 4.8× · band ₹30L-₹1.5Cr separate</a:t>
            </a:r>
            <a:endParaRPr lang="en-US" sz="850" dirty="0"/>
          </a:p>
        </p:txBody>
      </p:sp>
      <p:sp>
        <p:nvSpPr>
          <p:cNvPr id="55" name="Text 51"/>
          <p:cNvSpPr txBox="1"/>
          <p:nvPr/>
        </p:nvSpPr>
        <p:spPr>
          <a:xfrm>
            <a:off x="6193688" y="3913632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 over the rows above</a:t>
            </a:r>
            <a:endParaRPr lang="en-US" sz="800" dirty="0"/>
          </a:p>
        </p:txBody>
      </p:sp>
      <p:sp>
        <p:nvSpPr>
          <p:cNvPr id="56" name="Text 52"/>
          <p:cNvSpPr txBox="1"/>
          <p:nvPr/>
        </p:nvSpPr>
        <p:spPr>
          <a:xfrm>
            <a:off x="4440936" y="4261104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Episode budget ₹100,000 · severity table</a:t>
            </a:r>
            <a:endParaRPr lang="en-US" sz="850" dirty="0"/>
          </a:p>
        </p:txBody>
      </p:sp>
      <p:sp>
        <p:nvSpPr>
          <p:cNvPr id="57" name="Text 53"/>
          <p:cNvSpPr txBox="1"/>
          <p:nvPr/>
        </p:nvSpPr>
        <p:spPr>
          <a:xfrm>
            <a:off x="6193688" y="4261104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750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decision_support.yaml</a:t>
            </a:r>
            <a:endParaRPr lang="en-US" sz="680" dirty="0"/>
          </a:p>
        </p:txBody>
      </p:sp>
      <p:sp>
        <p:nvSpPr>
          <p:cNvPr id="58" name="Text 54"/>
          <p:cNvSpPr txBox="1"/>
          <p:nvPr/>
        </p:nvSpPr>
        <p:spPr>
          <a:xfrm>
            <a:off x="4440936" y="4608576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budgets 150 ms / 1.5 s / gate mode</a:t>
            </a:r>
            <a:endParaRPr lang="en-US" sz="850" dirty="0"/>
          </a:p>
        </p:txBody>
      </p:sp>
      <p:sp>
        <p:nvSpPr>
          <p:cNvPr id="59" name="Text 55"/>
          <p:cNvSpPr txBox="1"/>
          <p:nvPr/>
        </p:nvSpPr>
        <p:spPr>
          <a:xfrm>
            <a:off x="6193688" y="4608576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750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policies/*.yaml (3 packs)</a:t>
            </a:r>
            <a:endParaRPr lang="en-US" sz="680" dirty="0"/>
          </a:p>
        </p:txBody>
      </p:sp>
      <p:sp>
        <p:nvSpPr>
          <p:cNvPr id="60" name="Text 56"/>
          <p:cNvSpPr txBox="1"/>
          <p:nvPr/>
        </p:nvSpPr>
        <p:spPr>
          <a:xfrm>
            <a:off x="4440936" y="4956048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cost ₹0.04/1K tokens · judge ₹0.05</a:t>
            </a:r>
            <a:endParaRPr lang="en-US" sz="850" dirty="0"/>
          </a:p>
        </p:txBody>
      </p:sp>
      <p:sp>
        <p:nvSpPr>
          <p:cNvPr id="61" name="Text 57"/>
          <p:cNvSpPr txBox="1"/>
          <p:nvPr/>
        </p:nvSpPr>
        <p:spPr>
          <a:xfrm>
            <a:off x="6193688" y="4956048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750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controlplane/config.py</a:t>
            </a:r>
            <a:endParaRPr lang="en-US" sz="680" dirty="0"/>
          </a:p>
        </p:txBody>
      </p:sp>
      <p:sp>
        <p:nvSpPr>
          <p:cNvPr id="62" name="Text 58"/>
          <p:cNvSpPr txBox="1"/>
          <p:nvPr/>
        </p:nvSpPr>
        <p:spPr>
          <a:xfrm>
            <a:off x="4440936" y="5303520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Severities signed by client risk office at land</a:t>
            </a:r>
            <a:endParaRPr lang="en-US" sz="850" dirty="0"/>
          </a:p>
        </p:txBody>
      </p:sp>
      <p:sp>
        <p:nvSpPr>
          <p:cNvPr id="63" name="Text 59"/>
          <p:cNvSpPr txBox="1"/>
          <p:nvPr/>
        </p:nvSpPr>
        <p:spPr>
          <a:xfrm>
            <a:off x="6193688" y="5303520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 design, section 06</a:t>
            </a:r>
            <a:endParaRPr lang="en-US" sz="800" dirty="0"/>
          </a:p>
        </p:txBody>
      </p:sp>
      <p:sp>
        <p:nvSpPr>
          <p:cNvPr id="64" name="Shape 60"/>
          <p:cNvSpPr/>
          <p:nvPr/>
        </p:nvSpPr>
        <p:spPr>
          <a:xfrm>
            <a:off x="8141208" y="1051560"/>
            <a:ext cx="3636264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4DCEF"/>
            </a:solidFill>
            <a:prstDash val="solid"/>
          </a:ln>
        </p:spPr>
      </p:sp>
      <p:pic>
        <p:nvPicPr>
          <p:cNvPr id="65" name="Image 2" descr="icons/Fc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1984" y="1161288"/>
            <a:ext cx="310896" cy="310896"/>
          </a:xfrm>
          <a:prstGeom prst="rect">
            <a:avLst/>
          </a:prstGeom>
        </p:spPr>
      </p:pic>
      <p:sp>
        <p:nvSpPr>
          <p:cNvPr id="66" name="Text 61"/>
          <p:cNvSpPr txBox="1"/>
          <p:nvPr/>
        </p:nvSpPr>
        <p:spPr>
          <a:xfrm>
            <a:off x="8305800" y="1179576"/>
            <a:ext cx="2996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&amp; PUBLIC SOURCES</a:t>
            </a:r>
            <a:endParaRPr lang="en-US" sz="950" dirty="0"/>
          </a:p>
        </p:txBody>
      </p:sp>
      <p:sp>
        <p:nvSpPr>
          <p:cNvPr id="67" name="Text 62"/>
          <p:cNvSpPr txBox="1"/>
          <p:nvPr/>
        </p:nvSpPr>
        <p:spPr>
          <a:xfrm>
            <a:off x="8305800" y="1481328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“Compounding risk” quote &amp; brief requirements</a:t>
            </a:r>
            <a:endParaRPr lang="en-US" sz="850" dirty="0"/>
          </a:p>
        </p:txBody>
      </p:sp>
      <p:sp>
        <p:nvSpPr>
          <p:cNvPr id="68" name="Text 63"/>
          <p:cNvSpPr txBox="1"/>
          <p:nvPr/>
        </p:nvSpPr>
        <p:spPr>
          <a:xfrm>
            <a:off x="10058552" y="1481328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 2026 Round 2 problem statement, Track 1</a:t>
            </a:r>
            <a:endParaRPr lang="en-US" sz="800" dirty="0"/>
          </a:p>
        </p:txBody>
      </p:sp>
      <p:sp>
        <p:nvSpPr>
          <p:cNvPr id="69" name="Text 64"/>
          <p:cNvSpPr txBox="1"/>
          <p:nvPr/>
        </p:nvSpPr>
        <p:spPr>
          <a:xfrm>
            <a:off x="8305800" y="1810512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10/11 agents bypassed shell guards</a:t>
            </a:r>
            <a:endParaRPr lang="en-US" sz="850" dirty="0"/>
          </a:p>
        </p:txBody>
      </p:sp>
      <p:sp>
        <p:nvSpPr>
          <p:cNvPr id="70" name="Text 65"/>
          <p:cNvSpPr txBox="1"/>
          <p:nvPr/>
        </p:nvSpPr>
        <p:spPr>
          <a:xfrm>
            <a:off x="10058552" y="1810512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GuardFall - 2026 agent-security research (public)</a:t>
            </a:r>
            <a:endParaRPr lang="en-US" sz="800" dirty="0"/>
          </a:p>
        </p:txBody>
      </p:sp>
      <p:sp>
        <p:nvSpPr>
          <p:cNvPr id="71" name="Text 66"/>
          <p:cNvSpPr txBox="1"/>
          <p:nvPr/>
        </p:nvSpPr>
        <p:spPr>
          <a:xfrm>
            <a:off x="8305800" y="2139696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memory poisoned by one email</a:t>
            </a:r>
            <a:endParaRPr lang="en-US" sz="850" dirty="0"/>
          </a:p>
        </p:txBody>
      </p:sp>
      <p:sp>
        <p:nvSpPr>
          <p:cNvPr id="72" name="Text 67"/>
          <p:cNvSpPr txBox="1"/>
          <p:nvPr/>
        </p:nvSpPr>
        <p:spPr>
          <a:xfrm>
            <a:off x="10058552" y="2139696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MemGhost - 2026 agent-security research (public)</a:t>
            </a:r>
            <a:endParaRPr lang="en-US" sz="800" dirty="0"/>
          </a:p>
        </p:txBody>
      </p:sp>
      <p:sp>
        <p:nvSpPr>
          <p:cNvPr id="73" name="Text 68"/>
          <p:cNvSpPr txBox="1"/>
          <p:nvPr/>
        </p:nvSpPr>
        <p:spPr>
          <a:xfrm>
            <a:off x="8305800" y="2468880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modes steered by hostile repo content</a:t>
            </a:r>
            <a:endParaRPr lang="en-US" sz="850" dirty="0"/>
          </a:p>
        </p:txBody>
      </p:sp>
      <p:sp>
        <p:nvSpPr>
          <p:cNvPr id="74" name="Text 69"/>
          <p:cNvSpPr txBox="1"/>
          <p:nvPr/>
        </p:nvSpPr>
        <p:spPr>
          <a:xfrm>
            <a:off x="10058552" y="2468880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Friendly Fire - 2026 agent-security research (public)</a:t>
            </a:r>
            <a:endParaRPr lang="en-US" sz="800" dirty="0"/>
          </a:p>
        </p:txBody>
      </p:sp>
      <p:sp>
        <p:nvSpPr>
          <p:cNvPr id="75" name="Text 70"/>
          <p:cNvSpPr txBox="1"/>
          <p:nvPr/>
        </p:nvSpPr>
        <p:spPr>
          <a:xfrm>
            <a:off x="8305800" y="2798064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~20% of organisations report mature AI governance</a:t>
            </a:r>
            <a:endParaRPr lang="en-US" sz="850" dirty="0"/>
          </a:p>
        </p:txBody>
      </p:sp>
      <p:sp>
        <p:nvSpPr>
          <p:cNvPr id="76" name="Text 71"/>
          <p:cNvSpPr txBox="1"/>
          <p:nvPr/>
        </p:nvSpPr>
        <p:spPr>
          <a:xfrm>
            <a:off x="10058552" y="2798064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Deloitte AI governance survey, 2026</a:t>
            </a:r>
            <a:endParaRPr lang="en-US" sz="800" dirty="0"/>
          </a:p>
        </p:txBody>
      </p:sp>
      <p:sp>
        <p:nvSpPr>
          <p:cNvPr id="77" name="Text 72"/>
          <p:cNvSpPr txBox="1"/>
          <p:nvPr/>
        </p:nvSpPr>
        <p:spPr>
          <a:xfrm>
            <a:off x="8305800" y="3127248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Human-oversight duty for high-risk AI</a:t>
            </a:r>
            <a:endParaRPr lang="en-US" sz="850" dirty="0"/>
          </a:p>
        </p:txBody>
      </p:sp>
      <p:sp>
        <p:nvSpPr>
          <p:cNvPr id="78" name="Text 73"/>
          <p:cNvSpPr txBox="1"/>
          <p:nvPr/>
        </p:nvSpPr>
        <p:spPr>
          <a:xfrm>
            <a:off x="10058552" y="3127248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Act, Article 14</a:t>
            </a:r>
            <a:endParaRPr lang="en-US" sz="800" dirty="0"/>
          </a:p>
        </p:txBody>
      </p:sp>
      <p:sp>
        <p:nvSpPr>
          <p:cNvPr id="79" name="Text 74"/>
          <p:cNvSpPr txBox="1"/>
          <p:nvPr/>
        </p:nvSpPr>
        <p:spPr>
          <a:xfrm>
            <a:off x="8305800" y="3456432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failure archetypes in eval data</a:t>
            </a:r>
            <a:endParaRPr lang="en-US" sz="850" dirty="0"/>
          </a:p>
        </p:txBody>
      </p:sp>
      <p:sp>
        <p:nvSpPr>
          <p:cNvPr id="80" name="Text 75"/>
          <p:cNvSpPr txBox="1"/>
          <p:nvPr/>
        </p:nvSpPr>
        <p:spPr>
          <a:xfrm>
            <a:off x="10058552" y="3456432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HaluEval · RAGTruth (public benchmarks)</a:t>
            </a:r>
            <a:endParaRPr lang="en-US" sz="800" dirty="0"/>
          </a:p>
        </p:txBody>
      </p:sp>
      <p:sp>
        <p:nvSpPr>
          <p:cNvPr id="81" name="Text 76"/>
          <p:cNvSpPr txBox="1"/>
          <p:nvPr/>
        </p:nvSpPr>
        <p:spPr>
          <a:xfrm>
            <a:off x="8305800" y="3785616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Jailbreak / injection archetypes in eval data</a:t>
            </a:r>
            <a:endParaRPr lang="en-US" sz="850" dirty="0"/>
          </a:p>
        </p:txBody>
      </p:sp>
      <p:sp>
        <p:nvSpPr>
          <p:cNvPr id="82" name="Text 77"/>
          <p:cNvSpPr txBox="1"/>
          <p:nvPr/>
        </p:nvSpPr>
        <p:spPr>
          <a:xfrm>
            <a:off x="10058552" y="3785616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JailbreakBench (public benchmark)</a:t>
            </a:r>
            <a:endParaRPr lang="en-US" sz="800" dirty="0"/>
          </a:p>
        </p:txBody>
      </p:sp>
      <p:sp>
        <p:nvSpPr>
          <p:cNvPr id="83" name="Text 78"/>
          <p:cNvSpPr txBox="1"/>
          <p:nvPr/>
        </p:nvSpPr>
        <p:spPr>
          <a:xfrm>
            <a:off x="8305800" y="4114800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patterns in eval data</a:t>
            </a:r>
            <a:endParaRPr lang="en-US" sz="850" dirty="0"/>
          </a:p>
        </p:txBody>
      </p:sp>
      <p:sp>
        <p:nvSpPr>
          <p:cNvPr id="84" name="Text 79"/>
          <p:cNvSpPr txBox="1"/>
          <p:nvPr/>
        </p:nvSpPr>
        <p:spPr>
          <a:xfrm>
            <a:off x="10058552" y="4114800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Presidio (open source)</a:t>
            </a:r>
            <a:endParaRPr lang="en-US" sz="800" dirty="0"/>
          </a:p>
        </p:txBody>
      </p:sp>
      <p:sp>
        <p:nvSpPr>
          <p:cNvPr id="85" name="Text 80"/>
          <p:cNvSpPr txBox="1"/>
          <p:nvPr/>
        </p:nvSpPr>
        <p:spPr>
          <a:xfrm>
            <a:off x="8305800" y="4443984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Sub-200 ms guardrails are commodity; session observability</a:t>
            </a:r>
            <a:endParaRPr lang="en-US" sz="850" dirty="0"/>
          </a:p>
        </p:txBody>
      </p:sp>
      <p:sp>
        <p:nvSpPr>
          <p:cNvPr id="86" name="Text 81"/>
          <p:cNvSpPr txBox="1"/>
          <p:nvPr/>
        </p:nvSpPr>
        <p:spPr>
          <a:xfrm>
            <a:off x="10058552" y="4443984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Fiddler · Galileo · Arthur public positioning, 2026</a:t>
            </a:r>
            <a:endParaRPr lang="en-US" sz="800" dirty="0"/>
          </a:p>
        </p:txBody>
      </p:sp>
      <p:sp>
        <p:nvSpPr>
          <p:cNvPr id="87" name="Text 82"/>
          <p:cNvSpPr txBox="1"/>
          <p:nvPr/>
        </p:nvSpPr>
        <p:spPr>
          <a:xfrm>
            <a:off x="8305800" y="4773168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Bundled content guardrails</a:t>
            </a:r>
            <a:endParaRPr lang="en-US" sz="850" dirty="0"/>
          </a:p>
        </p:txBody>
      </p:sp>
      <p:sp>
        <p:nvSpPr>
          <p:cNvPr id="88" name="Text 83"/>
          <p:cNvSpPr txBox="1"/>
          <p:nvPr/>
        </p:nvSpPr>
        <p:spPr>
          <a:xfrm>
            <a:off x="10058552" y="4773168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Bedrock / Azure AI public docs, 2026</a:t>
            </a:r>
            <a:endParaRPr lang="en-US" sz="800" dirty="0"/>
          </a:p>
        </p:txBody>
      </p:sp>
      <p:sp>
        <p:nvSpPr>
          <p:cNvPr id="89" name="Text 84"/>
          <p:cNvSpPr txBox="1"/>
          <p:nvPr/>
        </p:nvSpPr>
        <p:spPr>
          <a:xfrm>
            <a:off x="8305800" y="5102352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guardrail hooks</a:t>
            </a:r>
            <a:endParaRPr lang="en-US" sz="850" dirty="0"/>
          </a:p>
        </p:txBody>
      </p:sp>
      <p:sp>
        <p:nvSpPr>
          <p:cNvPr id="90" name="Text 85"/>
          <p:cNvSpPr txBox="1"/>
          <p:nvPr/>
        </p:nvSpPr>
        <p:spPr>
          <a:xfrm>
            <a:off x="10058552" y="5102352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· Portkey public docs, 2026</a:t>
            </a:r>
            <a:endParaRPr lang="en-US" sz="800" dirty="0"/>
          </a:p>
        </p:txBody>
      </p:sp>
      <p:sp>
        <p:nvSpPr>
          <p:cNvPr id="91" name="Text 86"/>
          <p:cNvSpPr txBox="1"/>
          <p:nvPr/>
        </p:nvSpPr>
        <p:spPr>
          <a:xfrm>
            <a:off x="8305800" y="5431536"/>
            <a:ext cx="1719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attribution</a:t>
            </a:r>
            <a:endParaRPr lang="en-US" sz="850" dirty="0"/>
          </a:p>
        </p:txBody>
      </p:sp>
      <p:sp>
        <p:nvSpPr>
          <p:cNvPr id="92" name="Text 87"/>
          <p:cNvSpPr txBox="1"/>
          <p:nvPr/>
        </p:nvSpPr>
        <p:spPr>
          <a:xfrm>
            <a:off x="10058552" y="5431536"/>
            <a:ext cx="155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750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 NOTICE file (Apache-2.0)</a:t>
            </a:r>
            <a:endParaRPr lang="en-US" sz="680" dirty="0"/>
          </a:p>
        </p:txBody>
      </p:sp>
      <p:sp>
        <p:nvSpPr>
          <p:cNvPr id="93" name="Shape 88"/>
          <p:cNvSpPr/>
          <p:nvPr/>
        </p:nvSpPr>
        <p:spPr>
          <a:xfrm>
            <a:off x="411480" y="6035040"/>
            <a:ext cx="11365992" cy="566928"/>
          </a:xfrm>
          <a:prstGeom prst="roundRect">
            <a:avLst>
              <a:gd name="adj" fmla="val 9677"/>
            </a:avLst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</p:sp>
      <p:sp>
        <p:nvSpPr>
          <p:cNvPr id="94" name="Text 89"/>
          <p:cNvSpPr txBox="1"/>
          <p:nvPr/>
        </p:nvSpPr>
        <p:spPr>
          <a:xfrm>
            <a:off x="640080" y="603504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 the measured column from a fresh clone:  </a:t>
            </a:r>
            <a:pPr indent="0" marL="0">
              <a:buNone/>
            </a:pPr>
            <a:r>
              <a:rPr lang="en-US" sz="950" b="1" dirty="0">
                <a:solidFill>
                  <a:srgbClr val="7FF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pytest tests/</a:t>
            </a:r>
            <a:pPr indent="0" marL="0">
              <a:buNone/>
            </a:pPr>
            <a:r>
              <a:rPr lang="en-US" sz="950" dirty="0">
                <a:solidFill>
                  <a:srgbClr val="D9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indent="0" marL="0">
              <a:buNone/>
            </a:pPr>
            <a:r>
              <a:rPr lang="en-US" sz="950" b="1" dirty="0">
                <a:solidFill>
                  <a:srgbClr val="7FF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evals.generate &amp;&amp; python -m evals.run</a:t>
            </a:r>
            <a:pPr indent="0" marL="0">
              <a:buNone/>
            </a:pPr>
            <a:r>
              <a:rPr lang="en-US" sz="950" dirty="0">
                <a:solidFill>
                  <a:srgbClr val="D9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indent="0" marL="0">
              <a:buNone/>
            </a:pPr>
            <a:r>
              <a:rPr lang="en-US" sz="950" b="1" dirty="0">
                <a:solidFill>
                  <a:srgbClr val="7FF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scripts.load_test</a:t>
            </a:r>
            <a:pPr indent="0" marL="0">
              <a:buNone/>
            </a:pPr>
            <a:r>
              <a:rPr lang="en-US" sz="900" dirty="0">
                <a:solidFill>
                  <a:srgbClr val="D9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 the dataset is seeded, so every number regenerates byte-identically.</a:t>
            </a:r>
            <a:endParaRPr lang="en-US" sz="950" dirty="0"/>
          </a:p>
        </p:txBody>
      </p:sp>
      <p:sp>
        <p:nvSpPr>
          <p:cNvPr id="95" name="Text 90"/>
          <p:cNvSpPr txBox="1"/>
          <p:nvPr/>
        </p:nvSpPr>
        <p:spPr>
          <a:xfrm>
            <a:off x="411480" y="6638544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Repository: github.com/mayank14112006/Accenture · nothing in the proposal is asserted without a line on this page</a:t>
            </a:r>
            <a:endParaRPr lang="en-US" sz="750" dirty="0"/>
          </a:p>
        </p:txBody>
      </p:sp>
      <p:sp>
        <p:nvSpPr>
          <p:cNvPr id="96" name="Text 91"/>
          <p:cNvSpPr txBox="1"/>
          <p:nvPr/>
        </p:nvSpPr>
        <p:spPr>
          <a:xfrm>
            <a:off x="8531352" y="663854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 · Detailed Business Proposal · Appendix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2026-09-02T08:32:00Z</dcterms:created>
  <dcterms:modified xsi:type="dcterms:W3CDTF">2026-09-02T08:32:00Z</dcterms:modified>
</cp:coreProperties>
</file>