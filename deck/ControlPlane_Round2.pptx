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failure: agents acting on their own fabrications. Round 1 promised inline verification; Round 2 ships and MEASURES it — and adds the episode layer nobody 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Q&amp;A: 'Do you still stand by &lt;60ms and &gt;90%?' — Yes, and we beat them with the full ensemble measured, not asserted. The R1 streaming wording is corrected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category anchor is not 'we invented episode regulation' — it is Art. 14 oversight duties plus live agent incidents. Sources: GuardFall/MemGhost/Friendly Fire 2026 agent-security research; Deloitte 2026 AI governance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Q&amp;A: 'where do the probabilities come from?' — isotonic calibration on an eval hold-out, prior-shifted to a stated deployment base rate; thresholds use detection confidence, the ₹ ledger uses the shifted probability. Severities are the client risk office's signed numbers, not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INNOVATION CHALLENGE 2026 · ROUND 2 · PROBLEM TRACK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554480"/>
            <a:ext cx="11183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269748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the </a:t>
            </a:r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</a:t>
            </a:r>
            <a:pPr indent="0" marL="0">
              <a:buNone/>
            </a:pPr>
            <a:r>
              <a:rPr lang="en-US" sz="26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the response.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questionable output shapes several downstream decisions — until an agent executes an irreversible action on a premise it fabricated four turns ago. Response-level guardrails cannot see it. ControlPlane holds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4617720"/>
            <a:ext cx="2670048" cy="1143000"/>
          </a:xfrm>
          <a:prstGeom prst="roundRect">
            <a:avLst>
              <a:gd name="adj" fmla="val 5600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470916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41/41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30936" y="521208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tainted irreversible actions held before execution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4617720"/>
            <a:ext cx="2670048" cy="1143000"/>
          </a:xfrm>
          <a:prstGeom prst="roundRect">
            <a:avLst>
              <a:gd name="adj" fmla="val 5600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3864" y="470916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0/47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83864" y="521208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holds on clean agent episodes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08776" y="4617720"/>
            <a:ext cx="2670048" cy="1143000"/>
          </a:xfrm>
          <a:prstGeom prst="roundRect">
            <a:avLst>
              <a:gd name="adj" fmla="val 5600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470916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 ms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36792" y="521208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assurance overhead per request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61704" y="4617720"/>
            <a:ext cx="2670048" cy="1143000"/>
          </a:xfrm>
          <a:prstGeom prst="roundRect">
            <a:avLst>
              <a:gd name="adj" fmla="val 5600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470916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89720" y="521208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compute vs model spend (load test)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5897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— reproduced by  python -m evals.run  in the public repository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62872" y="6309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Pluoton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CONTINUITY, THEN 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Round 1 promised — measured. Then the layer nobody ships.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262872" y="6510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Round 2 · 02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454396" cy="3749040"/>
          </a:xfrm>
          <a:prstGeom prst="roundRect">
            <a:avLst>
              <a:gd name="adj" fmla="val 1707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· PROMISED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508863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0–3 cascade: deterministic → small models → LLM judge → human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interception during streaming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 across performance, cost and responsibility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60 ms added p95 (Tier-0 target) · &gt; 90% of injected failures caught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3% of model token spend · risk × reversibility decisions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1636" y="1371600"/>
            <a:ext cx="5454396" cy="3749040"/>
          </a:xfrm>
          <a:prstGeom prst="roundRect">
            <a:avLst>
              <a:gd name="adj" fmla="val 1707"/>
            </a:avLst>
          </a:prstGeom>
          <a:solidFill>
            <a:srgbClr val="11161D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517904"/>
            <a:ext cx="52715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· MEASURED ON THE PROTOTYPE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14516" y="1828800"/>
            <a:ext cx="508863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 ms p50 / 20.3 ms p95 added — full lite ensemble, not Tier-0 only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96.4–100% recall per risk category, with confidence intervals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0.04% of model spend (metered CPU + judge calls, load test)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Tier 0–3 vocabulary, same decision set: PASS · ANNOTATE · REPAIR · ESCALATE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claim made precise: sentence-buffered release — PII masked before the wire; released words can't be unsaid, and we log that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5303520"/>
            <a:ext cx="11183112" cy="1051560"/>
          </a:xfrm>
          <a:prstGeom prst="roundRect">
            <a:avLst>
              <a:gd name="adj" fmla="val 6087"/>
            </a:avLst>
          </a:prstGeom>
          <a:solidFill>
            <a:srgbClr val="0E131A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468112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changed: </a:t>
            </a:r>
            <a:pPr indent="0" marL="0">
              <a:buNone/>
            </a:pPr>
            <a:r>
              <a:rPr lang="en-US" sz="12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response checking is now commodity — leading platforms ship sub-200 ms guardrails. We kept ours and stopped selling it as the innovation. Round 2's differentiator is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episode-level governance: a risk budget, claim provenance and an action gate across the whole task.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see requests. Risk compounds across the task.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262872" y="6510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Round 2 · 03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6492240" cy="2377440"/>
          </a:xfrm>
          <a:prstGeom prst="roundRect">
            <a:avLst>
              <a:gd name="adj" fmla="val 2692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MARKET ALREADY SOLVED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Response-level checks in &lt; 200 ms, on 100% of traffic, inside your VPC — commercial platforms ship this today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mapping to EU AI Act, NIST AI RMF, ISO/IEC 42001 — baseline expectation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providers bundle content guardrails effectively free inside existing commitments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931920"/>
            <a:ext cx="6492240" cy="2423160"/>
          </a:xfrm>
          <a:prstGeom prst="roundRect">
            <a:avLst>
              <a:gd name="adj" fmla="val 2642"/>
            </a:avLst>
          </a:prstGeom>
          <a:solidFill>
            <a:srgbClr val="11161D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78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NOBODY GOVERNS — THE BRIEF NAMES 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4370832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“Multi-turn conversations and AI agents that take actions introduce compounding risk, where one questionable output can shape several downstream decisions.”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52120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Round 2 brief, Problem Track 1. A gateway sees nine model calls; it does not see nine steps of one plan.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1371600"/>
            <a:ext cx="4416552" cy="4983480"/>
          </a:xfrm>
          <a:prstGeom prst="roundRect">
            <a:avLst>
              <a:gd name="adj" fmla="val 1449"/>
            </a:avLst>
          </a:prstGeom>
          <a:solidFill>
            <a:srgbClr val="0E131A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517904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AGENTS FAILING IN THIS SHAPE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52360" y="1847088"/>
            <a:ext cx="40507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of 11 open-source coding/computer-use agents bypassed raw-string shell guards (GuardFall)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memory poisoned from a single external email (MemGhost) — one planted 'fact' steers later actions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Defensive-review modes steered by hostile repository content (Friendly Fire)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~20% of organisations report mature AI governance (Deloitte, 2026)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Art. 14 requires effective human oversight — for an agent, the episode is the only unit at which that duty is dischargeable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262872" y="6510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Round 2 · 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guardrails ask: </a:t>
            </a:r>
            <a:pPr indent="0" marL="0">
              <a:buNone/>
            </a:pPr>
            <a:r>
              <a:rPr lang="en-US" sz="2000" i="1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response safe?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asks: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task still safe, given everything that has already happened in it?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3544824" cy="3657600"/>
          </a:xfrm>
          <a:prstGeom prst="roundRect">
            <a:avLst>
              <a:gd name="adj" fmla="val 1806"/>
            </a:avLst>
          </a:prstGeom>
          <a:solidFill>
            <a:srgbClr val="11161D"/>
          </a:solidFill>
          <a:ln w="9525">
            <a:solidFill>
              <a:srgbClr val="EAB3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68880"/>
            <a:ext cx="3179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risk budget — in rupees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31790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passed-but-uncertain output debits a hazard-based expected-loss meter. When the EPISODE's cumulative risk crosses the budget, it escalates — even though no single response ever crossed a block threshold.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5257800"/>
            <a:ext cx="3179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 at turn 7 in the demo — ₹103,467 against a ₹100,000 budget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22064" y="2286000"/>
            <a:ext cx="3544824" cy="3657600"/>
          </a:xfrm>
          <a:prstGeom prst="roundRect">
            <a:avLst>
              <a:gd name="adj" fmla="val 1806"/>
            </a:avLst>
          </a:prstGeom>
          <a:solidFill>
            <a:srgbClr val="11161D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4944" y="2468880"/>
            <a:ext cx="3179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provenance &amp; taint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04944" y="2926080"/>
            <a:ext cx="31790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Numbers, dates, names and IDs are canonicalised — “eighty-five thousand” equals 85000. A value first appearing ungrounded in model output is tainted and tracked across every later turn. Deterministic, milliseconds, no model call.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04944" y="5257800"/>
            <a:ext cx="3179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→ digits reformatting does not launder a fabrication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41208" y="2286000"/>
            <a:ext cx="3544824" cy="3657600"/>
          </a:xfrm>
          <a:prstGeom prst="roundRect">
            <a:avLst>
              <a:gd name="adj" fmla="val 1806"/>
            </a:avLst>
          </a:prstGeom>
          <a:solidFill>
            <a:srgbClr val="11161D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4088" y="2468880"/>
            <a:ext cx="3179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gate on reversibility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4088" y="2926080"/>
            <a:ext cx="31790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irreversible tool call — pay, send, delete, submit — requires a taint-clear episode, not just clean arguments. Held BEFORE execution, with the evidence chain attached for the reviewer.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4088" y="5257800"/>
            <a:ext cx="3179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41/41 tainted actions held · 0/47 false holds (measured)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17220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stays pluggable commodity — bring any guardrail vendor. The episode layer above it is the product.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1 · EPISODE RISK BUDGET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risk, priced in expected loss — with honest math.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262872" y="6510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Round 2 · 05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486400" cy="2286000"/>
          </a:xfrm>
          <a:prstGeom prst="roundRect">
            <a:avLst>
              <a:gd name="adj" fmla="val 2800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(AND WHY NOT A NAIVE SUM)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810512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 +=  −ln(1 − p)      per category, per turn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loss  =  Σ (1 − e^−h) · severity₹
</a:t>
            </a:r>
            <a:pPr indent="0" marL="0">
              <a:buNone/>
            </a:pPr>
            <a:r>
              <a:rPr lang="en-US" sz="10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Summing per-turn expected losses can exceed the worst case: 12 turns × P=0.15 × ₹50k “accrues” ₹90k against a ₹50k maximum. Hazard math is bounded, monotone, and reads as P(≥1 real failure).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840480"/>
            <a:ext cx="5486400" cy="2514600"/>
          </a:xfrm>
          <a:prstGeom prst="roundRect">
            <a:avLst>
              <a:gd name="adj" fmla="val 2545"/>
            </a:avLst>
          </a:prstGeom>
          <a:solidFill>
            <a:srgbClr val="0E131A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9867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AGAINST THE OBVIOUS ATTACKS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42976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 restatements dedupe by content hash; taint dedupes per canonical claim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 detector coverage INCREASES the debit — load cannot launder risk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Correlated labels (fabricated person detail = grounding + privacy) debit once, at the max — both stay on the record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Identity-scoped rolling windows — splitting sessions doesn't reset the budget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422392" cy="4983480"/>
          </a:xfrm>
          <a:prstGeom prst="roundRect">
            <a:avLst>
              <a:gd name="adj" fmla="val 1284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517904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TRACE — ACT 6 (REAL OUTPUT)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4645259"/>
            <a:ext cx="514677" cy="932581"/>
          </a:xfrm>
          <a:prstGeom prst="roundRect">
            <a:avLst>
              <a:gd name="adj" fmla="val 5330"/>
            </a:avLst>
          </a:prstGeom>
          <a:solidFill>
            <a:srgbClr val="EAB308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5623560"/>
            <a:ext cx="5146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12280" y="4370939"/>
            <a:ext cx="7889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₹32k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73845" y="3958262"/>
            <a:ext cx="514677" cy="1619578"/>
          </a:xfrm>
          <a:prstGeom prst="roundRect">
            <a:avLst>
              <a:gd name="adj" fmla="val 5330"/>
            </a:avLst>
          </a:prstGeom>
          <a:solidFill>
            <a:srgbClr val="EAB308"/>
          </a:solidFill>
          <a:ln/>
        </p:spPr>
      </p:sp>
      <p:sp>
        <p:nvSpPr>
          <p:cNvPr id="17" name="Text 15"/>
          <p:cNvSpPr/>
          <p:nvPr/>
        </p:nvSpPr>
        <p:spPr>
          <a:xfrm>
            <a:off x="7573845" y="5623560"/>
            <a:ext cx="5146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98249" y="3497461"/>
            <a:ext cx="514677" cy="2080379"/>
          </a:xfrm>
          <a:prstGeom prst="roundRect">
            <a:avLst>
              <a:gd name="adj" fmla="val 5330"/>
            </a:avLst>
          </a:prstGeom>
          <a:solidFill>
            <a:srgbClr val="EAB308"/>
          </a:solidFill>
          <a:ln/>
        </p:spPr>
      </p:sp>
      <p:sp>
        <p:nvSpPr>
          <p:cNvPr id="19" name="Text 17"/>
          <p:cNvSpPr/>
          <p:nvPr/>
        </p:nvSpPr>
        <p:spPr>
          <a:xfrm>
            <a:off x="8198249" y="5623560"/>
            <a:ext cx="5146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822654" y="3147145"/>
            <a:ext cx="514677" cy="2430695"/>
          </a:xfrm>
          <a:prstGeom prst="roundRect">
            <a:avLst>
              <a:gd name="adj" fmla="val 5330"/>
            </a:avLst>
          </a:prstGeom>
          <a:solidFill>
            <a:srgbClr val="EAB308"/>
          </a:solidFill>
          <a:ln/>
        </p:spPr>
      </p:sp>
      <p:sp>
        <p:nvSpPr>
          <p:cNvPr id="21" name="Text 19"/>
          <p:cNvSpPr/>
          <p:nvPr/>
        </p:nvSpPr>
        <p:spPr>
          <a:xfrm>
            <a:off x="8822654" y="5623560"/>
            <a:ext cx="5146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447058" y="2880845"/>
            <a:ext cx="514677" cy="2696995"/>
          </a:xfrm>
          <a:prstGeom prst="roundRect">
            <a:avLst>
              <a:gd name="adj" fmla="val 5330"/>
            </a:avLst>
          </a:prstGeom>
          <a:solidFill>
            <a:srgbClr val="EAB308"/>
          </a:solidFill>
          <a:ln/>
        </p:spPr>
      </p:sp>
      <p:sp>
        <p:nvSpPr>
          <p:cNvPr id="23" name="Text 21"/>
          <p:cNvSpPr/>
          <p:nvPr/>
        </p:nvSpPr>
        <p:spPr>
          <a:xfrm>
            <a:off x="9447058" y="5623560"/>
            <a:ext cx="5146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071463" y="2678406"/>
            <a:ext cx="514677" cy="2899434"/>
          </a:xfrm>
          <a:prstGeom prst="roundRect">
            <a:avLst>
              <a:gd name="adj" fmla="val 5330"/>
            </a:avLst>
          </a:prstGeom>
          <a:solidFill>
            <a:srgbClr val="EAB308"/>
          </a:solidFill>
          <a:ln/>
        </p:spPr>
      </p:sp>
      <p:sp>
        <p:nvSpPr>
          <p:cNvPr id="25" name="Text 23"/>
          <p:cNvSpPr/>
          <p:nvPr/>
        </p:nvSpPr>
        <p:spPr>
          <a:xfrm>
            <a:off x="10071463" y="5623560"/>
            <a:ext cx="5146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695867" y="2524510"/>
            <a:ext cx="514677" cy="3053330"/>
          </a:xfrm>
          <a:prstGeom prst="roundRect">
            <a:avLst>
              <a:gd name="adj" fmla="val 5330"/>
            </a:avLst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10695867" y="5623560"/>
            <a:ext cx="5146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58707" y="2250190"/>
            <a:ext cx="7889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₹103k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0" y="2626822"/>
            <a:ext cx="4553712" cy="0"/>
          </a:xfrm>
          <a:prstGeom prst="line">
            <a:avLst/>
          </a:prstGeom>
          <a:noFill/>
          <a:ln w="15875">
            <a:solidFill>
              <a:srgbClr val="EF4444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839712" y="237993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₹100,000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580644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“Provisional figures” from a low-trust source, turn after turn. Turns 1–6: ANNOTATE — none crosses a block threshold. Turn 7: the episode's budget exhausts and it escalates.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2 · CLAIM PROVENANCE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values, not strings — reformatting doesn't launder a fabrication.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262872" y="6510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Round 2 · 06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852160" cy="1554480"/>
          </a:xfrm>
          <a:prstGeom prst="roundRect">
            <a:avLst>
              <a:gd name="adj" fmla="val 4118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CANONICAL VALUE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₹1,20,000  =  120000  =  1.2 lakh  =  one point two lakh
</a:t>
            </a:r>
            <a:pPr indent="0" marL="0">
              <a:buNone/>
            </a:pPr>
            <a:r>
              <a:rPr lang="en-US" sz="10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 → ISO · names casefolded, honorifics stripped · IDs normalised · tolerance matching survives rounding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5852160" cy="3246120"/>
          </a:xfrm>
          <a:prstGeom prst="roundRect">
            <a:avLst>
              <a:gd name="adj" fmla="val 1972"/>
            </a:avLst>
          </a:prstGeom>
          <a:solidFill>
            <a:srgbClr val="0E131A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2552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VALUE GETS A PROVENANCE CLASS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5661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1161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661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75688" y="35204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in a well-governed source or the user's own input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4279392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1161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2793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75688" y="423367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computable from grounded numbers — sums, GST, discounts — whitelisted, logged with its formula (models legitimately derive; tainting derivations would flood the gate)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4992624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1161D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99262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LOW-TRUST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75688" y="494690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ONLY by a loosely-governed source — shared drive, forwarded email, agent memory. The brief's own data-quality split; the MemGhost defence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5705856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1161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70585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TAINTED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75688" y="566013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appeared in model output with no support anywhere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1371600"/>
            <a:ext cx="5056632" cy="4983480"/>
          </a:xfrm>
          <a:prstGeom prst="roundRect">
            <a:avLst>
              <a:gd name="adj" fmla="val 1284"/>
            </a:avLst>
          </a:prstGeom>
          <a:solidFill>
            <a:srgbClr val="11161D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517904"/>
            <a:ext cx="487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DESIGN SURVIVES THE Q&amp;A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1874520"/>
            <a:ext cx="46908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if the agent writes the number in words?” — canonicalisation catches it; the demo does exactly this</a:t>
            </a:r>
            <a:endParaRPr lang="en-US" sz="11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fast path on 100% of traffic: entity/number/date tracking is regex + parsing, milliseconds, zero model calls</a:t>
            </a:r>
            <a:endParaRPr lang="en-US" sz="11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semantic claim extraction (LLM) runs only on already-elevated episodes — we say this trade-off out loud</a:t>
            </a:r>
            <a:endParaRPr lang="en-US" sz="11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same-claim-restated case dedupes; the recombined-entities case is honestly out of the lexical path's scope — it belongs to the NLI adapter and Tier-2 judge</a:t>
            </a:r>
            <a:endParaRPr lang="en-US" sz="11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claim a human verifies can be RESOLVED — the taint clears, the action re-proposes, everything ledgered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3 · THE ACTION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before execution — the shot response-level tools cannot take.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262872" y="6510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Round 2 · 07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1183112" cy="2651760"/>
          </a:xfrm>
          <a:prstGeom prst="roundRect">
            <a:avLst>
              <a:gd name="adj" fmla="val 2414"/>
            </a:avLst>
          </a:prstGeom>
          <a:solidFill>
            <a:srgbClr val="11161D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96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FLAGSHIP DEMO TRACE (DETERMINISTIC, OFFLINE, IN THE REPO)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3392424" cy="1920240"/>
          </a:xfrm>
          <a:prstGeom prst="roundRect">
            <a:avLst>
              <a:gd name="adj" fmla="val 3333"/>
            </a:avLst>
          </a:prstGeom>
          <a:solidFill>
            <a:srgbClr val="0E131A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9339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“Prepare claim CLM-20391 for payout” — source says approved: ₹45,000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96512" y="26060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98264" y="1874520"/>
            <a:ext cx="3392424" cy="1920240"/>
          </a:xfrm>
          <a:prstGeom prst="roundRect">
            <a:avLst>
              <a:gd name="adj" fmla="val 3333"/>
            </a:avLst>
          </a:prstGeom>
          <a:solidFill>
            <a:srgbClr val="0E131A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99339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35424" y="22860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“payable amount comes to eighty-five thousand rupees”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35424" y="329184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TAINTED — not in any source, not derivable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08976" y="26060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10728" y="1874520"/>
            <a:ext cx="3392424" cy="1920240"/>
          </a:xfrm>
          <a:prstGeom prst="roundRect">
            <a:avLst>
              <a:gd name="adj" fmla="val 3333"/>
            </a:avLst>
          </a:prstGeom>
          <a:solidFill>
            <a:srgbClr val="0E131A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199339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47888" y="22860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call: issue_refund(claim=CLM-20391, amount=85000)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47888" y="329184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HOLD_ACTION — canonical match, words = digits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5454396" cy="2103120"/>
          </a:xfrm>
          <a:prstGeom prst="roundRect">
            <a:avLst>
              <a:gd name="adj" fmla="val 3043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3891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HARDER CASE: CLEAN ARGS, TAINTED PREMISE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4681728"/>
            <a:ext cx="50886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1: model claims “the customer's balance fully covers this, at ₹9,90,000” (fabricated). Turn 2: transfer_funds(amount=45000) — every argument pristine, the adjudicated amount itself.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5577840"/>
            <a:ext cx="50886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held. Irreversible actions require a taint-clear EPISODE — we cannot read the model's reasoning (API-only access), so the episode's evidence state must be clean. Conservative by construction.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31636" y="4251960"/>
            <a:ext cx="5454396" cy="2103120"/>
          </a:xfrm>
          <a:prstGeom prst="roundRect">
            <a:avLst>
              <a:gd name="adj" fmla="val 3043"/>
            </a:avLst>
          </a:prstGeom>
          <a:solidFill>
            <a:srgbClr val="0E131A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4516" y="4389120"/>
            <a:ext cx="50886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88 HELD-OUT AGENT EPISODES (OF 120 GENERATED)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14516" y="4709160"/>
            <a:ext cx="2475738" cy="1051560"/>
          </a:xfrm>
          <a:prstGeom prst="roundRect">
            <a:avLst>
              <a:gd name="adj" fmla="val 6087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2532" y="4800600"/>
            <a:ext cx="2219706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41/41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542532" y="5255971"/>
            <a:ext cx="2219706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tainted irreversible actions held (95% CI [91.4, 100])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027414" y="4709160"/>
            <a:ext cx="2475738" cy="1051560"/>
          </a:xfrm>
          <a:prstGeom prst="roundRect">
            <a:avLst>
              <a:gd name="adj" fmla="val 6087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55430" y="4800600"/>
            <a:ext cx="2219706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0/47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155430" y="5255971"/>
            <a:ext cx="2219706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holds on clean episodes — the alert-fatigue answer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14516" y="587044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actions (lookups, drafts) pass despite taint — reversibility is the dial.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gateway you adopt by changing one line: base_url.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262872" y="6510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Round 2 · 08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7223760" cy="640080"/>
          </a:xfrm>
          <a:prstGeom prst="roundRect">
            <a:avLst>
              <a:gd name="adj" fmla="val 10000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55448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GATE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153619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— direct AND inside retrieved sources · input PII · before any model call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7223760" cy="640080"/>
          </a:xfrm>
          <a:prstGeom prst="roundRect">
            <a:avLst>
              <a:gd name="adj" fmla="val 10000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28600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DETECTION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226771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 &lt;1 ms deterministic, 100%, never sheds · Tier 1 lexical/ONNX under the lane's latency budget · Tier 2 LLM judge, elevated episodes only → honest coverage score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944368"/>
            <a:ext cx="7223760" cy="640080"/>
          </a:xfrm>
          <a:prstGeom prst="roundRect">
            <a:avLst>
              <a:gd name="adj" fmla="val 10000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01752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FUSION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29992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isotonic calibration per detector → noisy-OR per category → correlated clusters debit once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675888"/>
            <a:ext cx="7223760" cy="640080"/>
          </a:xfrm>
          <a:prstGeom prst="roundRect">
            <a:avLst>
              <a:gd name="adj" fmla="val 10000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74904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LEDGER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373075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hazard budget · canonical claim taint · action gate · identity windows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4407408"/>
            <a:ext cx="7223760" cy="640080"/>
          </a:xfrm>
          <a:prstGeom prst="roundRect">
            <a:avLst>
              <a:gd name="adj" fmla="val 10000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448056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446227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versioned, hashed, signed YAML packs · hot reload · anti-rollback · jurisdiction overlays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5138928"/>
            <a:ext cx="7223760" cy="640080"/>
          </a:xfrm>
          <a:prstGeom prst="roundRect">
            <a:avLst>
              <a:gd name="adj" fmla="val 10000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21208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519379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· ANNOTATE · REPAIR (deterministic: mask PII, hedge claims) · ESCALATE · BLOCK · HOLD_ACTION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5870448"/>
            <a:ext cx="7223760" cy="640080"/>
          </a:xfrm>
          <a:prstGeom prst="roundRect">
            <a:avLst>
              <a:gd name="adj" fmla="val 10000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594360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77440" y="592531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hash-chained ledger, keyed HMAC digests (no raw text), external anchors · quarantined feedback store → retune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01000" y="1481328"/>
            <a:ext cx="3685032" cy="2286000"/>
          </a:xfrm>
          <a:prstGeom prst="roundRect">
            <a:avLst>
              <a:gd name="adj" fmla="val 2800"/>
            </a:avLst>
          </a:prstGeom>
          <a:solidFill>
            <a:srgbClr val="0E131A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65592" y="16093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TIERS (THIS HARDWARE)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65592" y="19202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842248" y="192024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regex/checksum/signatures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34472" y="1920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ms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65592" y="23500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842248" y="235000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 grounding, name-context, lexicons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34472" y="23500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 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65592" y="27797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1+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842248" y="277977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NLI + toxicity (optional)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34472" y="27797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at warmup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165592" y="32095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842248" y="3209544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judge, elevated only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34472" y="32095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~400 ms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165592" y="3657600"/>
            <a:ext cx="3355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NER-based PII is honestly Tier 1 — not a &lt;5 ms claim.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01000" y="4069080"/>
            <a:ext cx="3685032" cy="2441448"/>
          </a:xfrm>
          <a:prstGeom prst="roundRect">
            <a:avLst>
              <a:gd name="adj" fmla="val 2622"/>
            </a:avLst>
          </a:prstGeom>
          <a:solidFill>
            <a:srgbClr val="0E131A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65592" y="419709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THREE MODES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65592" y="4507992"/>
            <a:ext cx="3355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— block-capable; withholds tool calls (agents)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— annotate / repair / stream (chat, copilot)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— shadow: observe + ledger only. This is Phase 0 and the offline log-replay assessment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 faults are policy: chat fails open (annotated), regulated lanes fail closed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IS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lanes, one engine — and geography is an API call, not a release.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262872" y="6510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Round 2 · 09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544824" cy="2240280"/>
          </a:xfrm>
          <a:prstGeom prst="roundRect">
            <a:avLst>
              <a:gd name="adj" fmla="val 2857"/>
            </a:avLst>
          </a:prstGeom>
          <a:solidFill>
            <a:srgbClr val="11161D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517904"/>
            <a:ext cx="321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512" y="1883664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ms budget · inline · fail-open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" y="2212848"/>
            <a:ext cx="3215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repaired mid-stream, sentence-buffered release; brand/toxicity blocked; coverage score reported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2064" y="1371600"/>
            <a:ext cx="3544824" cy="2240280"/>
          </a:xfrm>
          <a:prstGeom prst="roundRect">
            <a:avLst>
              <a:gd name="adj" fmla="val 2857"/>
            </a:avLst>
          </a:prstGeom>
          <a:solidFill>
            <a:srgbClr val="11161D"/>
          </a:solidFill>
          <a:ln w="9525">
            <a:solidFill>
              <a:srgbClr val="EAB3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6656" y="1517904"/>
            <a:ext cx="321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copilot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86656" y="1883664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s budget · inline · fail-open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6656" y="2212848"/>
            <a:ext cx="3215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vs governed + loosely-governed sources; abstains on no evidence; low-trust support annotated with provenance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41208" y="1371600"/>
            <a:ext cx="3544824" cy="2240280"/>
          </a:xfrm>
          <a:prstGeom prst="roundRect">
            <a:avLst>
              <a:gd name="adj" fmla="val 2857"/>
            </a:avLst>
          </a:prstGeom>
          <a:solidFill>
            <a:srgbClr val="11161D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5800" y="1517904"/>
            <a:ext cx="321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Decision-support agent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05800" y="1883664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 budget · GATE · fail-closed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05800" y="2212848"/>
            <a:ext cx="3215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budget, claim taint, action gate; irreversible tools registered in the pack; nothing unchecked delivered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840480"/>
            <a:ext cx="6675120" cy="2514600"/>
          </a:xfrm>
          <a:prstGeom prst="roundRect">
            <a:avLst>
              <a:gd name="adj" fmla="val 2545"/>
            </a:avLst>
          </a:prstGeom>
          <a:solidFill>
            <a:srgbClr val="11161D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867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20-SECOND LIVE MOMENT (DEMO ACT 5)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29768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episode, same content: </a:t>
            </a:r>
            <a:pPr indent="0" marL="0">
              <a:buNone/>
            </a:pPr>
            <a:r>
              <a:rPr lang="en-US" sz="12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payout figure supported only by a forwarded email.
</a:t>
            </a:r>
            <a:pPr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pack (DPDP posture) → transfer_funds HELD
</a:t>
            </a:r>
            <a:pPr indent="0" marL="0">
              <a:buNone/>
            </a:pPr>
            <a:r>
              <a:rPr lang="en-US" sz="1050" i="1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jurisdiction to US — one API call, version bumps, hot-reloads
</a:t>
            </a:r>
            <a:pPr indent="0" marL="0">
              <a:buNone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pack (low-trust tolerated by policy) → transfer_funds PASSES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52360" y="3840480"/>
            <a:ext cx="4233672" cy="2514600"/>
          </a:xfrm>
          <a:prstGeom prst="roundRect">
            <a:avLst>
              <a:gd name="adj" fmla="val 2545"/>
            </a:avLst>
          </a:prstGeom>
          <a:solidFill>
            <a:srgbClr val="0E131A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16952" y="39867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HARDENING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16952" y="4297680"/>
            <a:ext cx="39044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records policy_version + pack_hash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Anti-rollback: an older validly-signed pack is refused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Unparseable pack → last-known-good keeps serving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point is an owned dial: set a benign-flag-rate target, thresholds solve from the measured sweep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ASSERTED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reproduced by  python -m evals.run  — counts and intervals included.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262872" y="6510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Round 2 · 10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828800"/>
                <a:gridCol w="105156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category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(caught / injected)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 CI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 flags on benign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Grounding (unsupported assertion)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96.4%  (402 / 417)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[94.2, 97.8]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1,964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 (PII)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 (132 / 132)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[97.2, 100]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2,249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Toxicity / harmful language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 (96 / 96)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[96.2, 100]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2,285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injection (incl. indirect)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 (68 / 68)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[94.7, 100]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2,313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anomalies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 (26 / 26)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[87.1, 100]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2,355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9776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split (2,381 records) of a 3,488-record seeded synthetic dataset (~28% injected failures — labels true by construction; archetypes follow HaluEval/RAGTruth, JailbreakBench, Presidio patterns). The 15 grounding misses are entity-less recombinations — the stated limit of the deterministic path; that is what the NLI adapter and Tier-2 judge are for.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" y="4983480"/>
            <a:ext cx="6766560" cy="1371600"/>
          </a:xfrm>
          <a:prstGeom prst="roundRect">
            <a:avLst>
              <a:gd name="adj" fmla="val 4667"/>
            </a:avLst>
          </a:prstGeom>
          <a:solidFill>
            <a:srgbClr val="0E131A"/>
          </a:solidFill>
          <a:ln w="9525">
            <a:solidFill>
              <a:srgbClr val="EAB30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5138928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 before you ask: </a:t>
            </a:r>
            <a:pPr indent="0" marL="0">
              <a:buNone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rates on synthetic traffic with failures injected by construction. Real-traffic rates are established in the shadow phase — that is what the shadow phase is FOR. A blind hold-out slot (written by whoever didn't build the detectors) is in the repo and scored separately.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43800" y="1417320"/>
            <a:ext cx="2002536" cy="1554480"/>
          </a:xfrm>
          <a:prstGeom prst="roundRect">
            <a:avLst>
              <a:gd name="adj" fmla="val 4118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71816" y="1508760"/>
            <a:ext cx="1746504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43/43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671816" y="2225650"/>
            <a:ext cx="1746504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abstentions — INSUFFICIENT_EVIDENCE, never an invented score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683496" y="1417320"/>
            <a:ext cx="2002536" cy="1554480"/>
          </a:xfrm>
          <a:prstGeom prst="roundRect">
            <a:avLst>
              <a:gd name="adj" fmla="val 4118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11512" y="1508760"/>
            <a:ext cx="1746504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0.065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811512" y="2225650"/>
            <a:ext cx="1746504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calibration error (reliability diagram on the dashboard)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43800" y="3108960"/>
            <a:ext cx="2002536" cy="1554480"/>
          </a:xfrm>
          <a:prstGeom prst="roundRect">
            <a:avLst>
              <a:gd name="adj" fmla="val 4118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71816" y="3200400"/>
            <a:ext cx="1746504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 ms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671816" y="3917290"/>
            <a:ext cx="1746504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 added per request (p95 20.3 ms, ~250-token responses)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683496" y="3108960"/>
            <a:ext cx="2002536" cy="1554480"/>
          </a:xfrm>
          <a:prstGeom prst="roundRect">
            <a:avLst>
              <a:gd name="adj" fmla="val 4118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11512" y="3200400"/>
            <a:ext cx="1746504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req/s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811512" y="3917290"/>
            <a:ext cx="1746504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instance at saturation · 0 errors · stateless scale-out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543800" y="4800600"/>
            <a:ext cx="2002536" cy="1554480"/>
          </a:xfrm>
          <a:prstGeom prst="roundRect">
            <a:avLst>
              <a:gd name="adj" fmla="val 4118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71816" y="4892040"/>
            <a:ext cx="1746504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0.04%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7671816" y="5608930"/>
            <a:ext cx="1746504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vs model spend — load test; 0.2% on the failure-rich eval mix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9683496" y="4800600"/>
            <a:ext cx="2002536" cy="1554480"/>
          </a:xfrm>
          <a:prstGeom prst="roundRect">
            <a:avLst>
              <a:gd name="adj" fmla="val 4118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11512" y="4892040"/>
            <a:ext cx="1746504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&gt;96%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9811512" y="5608930"/>
            <a:ext cx="1746504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traffic checked with no LLM call at all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PROTOTYPE YOU CAN 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 — fully offline, no keys, no model downloads.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262872" y="6510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Round 2 · 11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577840" cy="4983480"/>
          </a:xfrm>
          <a:prstGeom prst="roundRect">
            <a:avLst>
              <a:gd name="adj" fmla="val 1284"/>
            </a:avLst>
          </a:prstGeom>
          <a:solidFill>
            <a:srgbClr val="0E131A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10-ACT SCRIPTED DEMO (DETERMINISTIC)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847088"/>
            <a:ext cx="52120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masked mid-stream — sentence-buffered release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abstention · governed-vs-loosely-governed source split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Words-vs-digits taint catch → issue_refund HELD before execution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Audit-mode side-by-side: what “off” looks like — the payout executes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→ US jurisdiction flip reverses the gate outcome, no restart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exhaustion at turn 7 — compounding, not thresholds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Two-person override (self-approval refused) + overturn-rate watch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 crash: chat fails open, regulated lane fails closed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injection inside a poisoned document — blocked at ingress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Hash-chain verification, telemetry, LLM-vs-non-LLM split, cost meter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489204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0A0E13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029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A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&lt;repo&gt; &amp;&amp; cd controlplane
</a:t>
            </a:r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pPr indent="0" marL="0">
              <a:buNone/>
            </a:pPr>
            <a:r>
              <a:rPr lang="en-US" sz="1050" dirty="0">
                <a:solidFill>
                  <a:srgbClr val="8A9A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gateway + dashboard :8080
</a:t>
            </a:r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demo.run_demo</a:t>
            </a:r>
            <a:pPr indent="0" marL="0">
              <a:buNone/>
            </a:pPr>
            <a:r>
              <a:rPr lang="en-US" sz="1050" dirty="0">
                <a:solidFill>
                  <a:srgbClr val="8A9A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the 10 acts, offline
</a:t>
            </a:r>
            <a:pPr indent="0" marL="0">
              <a:buNone/>
            </a:pPr>
            <a:r>
              <a:rPr lang="en-US" sz="1050" b="1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evals.run</a:t>
            </a:r>
            <a:pPr indent="0" marL="0">
              <a:buNone/>
            </a:pPr>
            <a:r>
              <a:rPr lang="en-US" sz="1050" dirty="0">
                <a:solidFill>
                  <a:srgbClr val="8A9A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# reproduce every number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1371600"/>
            <a:ext cx="5330952" cy="3291840"/>
          </a:xfrm>
          <a:prstGeom prst="roundRect">
            <a:avLst>
              <a:gd name="adj" fmla="val 1944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17904"/>
            <a:ext cx="4965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CONSOLE (REACT)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1828800"/>
            <a:ext cx="4965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decision feed · episode inspector with ₹ budget gauge, hazard bars, claims &amp; gate events · operating-point console over the measured sweep · eval scoreboard with reliability diagram · policy-pack cards with live jurisdiction switch · override queue</a:t>
            </a:r>
            <a:endParaRPr lang="en-US" sz="1050" dirty="0"/>
          </a:p>
        </p:txBody>
      </p:sp>
      <p:pic>
        <p:nvPicPr>
          <p:cNvPr id="13" name="Image 0" descr="dashboar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2724912"/>
            <a:ext cx="3931920" cy="188366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355080" y="4846320"/>
            <a:ext cx="5330952" cy="1508760"/>
          </a:xfrm>
          <a:prstGeom prst="roundRect">
            <a:avLst>
              <a:gd name="adj" fmla="val 4242"/>
            </a:avLst>
          </a:prstGeom>
          <a:solidFill>
            <a:srgbClr val="0E131A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4974336"/>
            <a:ext cx="5148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DISCIPLINE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37960" y="5266944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tests · seeded dataset · every deck number scripted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Apache-2.0 · NOTICE with model/benchmark attribution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Replay-first: the stage demo survives venue Wi-Fi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excellent at responses. The episode is unclaimed.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262872" y="6510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Round 2 · 12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690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they do well (credited)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the ceiling 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Fiddler · Galileo · Arthur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in-VPC small-model checks on 100% of traffic; sub-200 ms guardrails; session observability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requests, not reasoning — no cumulative ₹ risk, no provenance-gated actions. Observability after the fact ≠ enforcement before the irreversible call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Hyperscaler guardrails (Bedrock, Azure)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safety effectively free inside existing cloud commitments — the real pricing threat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per-response, single-cloud; no cross-vendor evidence ledger, no episode state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gateways (LiteLLM, Portkey)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routing, quotas, guardrail hooks at the proxy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plumbing, not governance — no calibrated decisions, no audit-grade ledger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977640"/>
            <a:ext cx="11183112" cy="1600200"/>
          </a:xfrm>
          <a:prstGeom prst="roundRect">
            <a:avLst>
              <a:gd name="adj" fmla="val 4000"/>
            </a:avLst>
          </a:prstGeom>
          <a:solidFill>
            <a:srgbClr val="11161D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4133088"/>
            <a:ext cx="10780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 the neutral episode &amp; evidence layer ABOVE whatever detectors the client already gets — including free ones. </a:t>
            </a:r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Detectors are pluggable adapters; commoditised detection makes the governance layer MORE valuable, not less. “Galileo ships session metrics” → session observability after the fact vs episode enforcement before the irreversible action — the demo's held tool call is the proof. And an episode ledger is a fast-follow for them only if they abandon per-response pricing and architecture — our moat is the unit of account.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4088" y="5806440"/>
            <a:ext cx="10780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the obvious probe — </a:t>
            </a:r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wouldn't the client just buy them?” They can. Bring-your-own-detector is a feature: the assessment, the signed severity table, the episode ledger and the operating methodology are what Accenture sells on top.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Accenture's own motion: assess → deploy → run. Priced on the unit we govern.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262872" y="6510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Round 2 · 13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1183112" cy="777240"/>
          </a:xfrm>
          <a:prstGeom prst="roundRect">
            <a:avLst>
              <a:gd name="adj" fmla="val 8235"/>
            </a:avLst>
          </a:prstGeom>
          <a:solidFill>
            <a:srgbClr val="0E131A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44752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buyer: </a:t>
            </a:r>
            <a:pPr indent="0" marL="0">
              <a:buNone/>
            </a:pPr>
            <a:r>
              <a:rPr lang="en-US" sz="11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/ Head of AI Platform — with the CRO as co-sponsor whose regulatory pressure creates urgency. Engineering, FinOps and operations are stakeholders to neutralise (latency, cost, alert fatigue), not signatures to collect.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3544824" cy="3017520"/>
          </a:xfrm>
          <a:prstGeom prst="roundRect">
            <a:avLst>
              <a:gd name="adj" fmla="val 2121"/>
            </a:avLst>
          </a:prstGeom>
          <a:solidFill>
            <a:srgbClr val="11161D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432304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2724912"/>
            <a:ext cx="321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Assessment — 4–6 weeks, fixed fee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7512" y="3255264"/>
            <a:ext cx="3215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AUDIT mode over exported LLM logs — zero production footprint, no InfoSec cliff before week 1. Deliverables: the episode risk report no incumbent can produce, and the client-signed severity table (their risk office signs the ₹ numbers — we never invent them).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22064" y="2286000"/>
            <a:ext cx="3544824" cy="3017520"/>
          </a:xfrm>
          <a:prstGeom prst="roundRect">
            <a:avLst>
              <a:gd name="adj" fmla="val 2121"/>
            </a:avLst>
          </a:prstGeom>
          <a:solidFill>
            <a:srgbClr val="11161D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6656" y="2432304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6656" y="2724912"/>
            <a:ext cx="321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In-tenancy deployment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86656" y="3255264"/>
            <a:ext cx="3215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per governed use case / agent class per month, tiered by risk class and jurisdiction count. Request metering is a fair-use throttle, not the headline. Assurance COGS ≈ 0.04% of model spend is the margin story, never the price anchor.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41208" y="2286000"/>
            <a:ext cx="3544824" cy="3017520"/>
          </a:xfrm>
          <a:prstGeom prst="roundRect">
            <a:avLst>
              <a:gd name="adj" fmla="val 2121"/>
            </a:avLst>
          </a:prstGeom>
          <a:solidFill>
            <a:srgbClr val="11161D"/>
          </a:solidFill>
          <a:ln w="9525">
            <a:solidFill>
              <a:srgbClr val="EAB3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5800" y="2432304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05800" y="2724912"/>
            <a:ext cx="321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assurance service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05800" y="3255264"/>
            <a:ext cx="3215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escalation triage bench (L1/L2/L3), quarterly policy-pack updates, drift recalibration against a frozen canary set. The human-review labour IS the recurring service line — priced in, not hidden from the ROI.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5486400"/>
            <a:ext cx="11183112" cy="914400"/>
          </a:xfrm>
          <a:prstGeom prst="roundRect">
            <a:avLst>
              <a:gd name="adj" fmla="val 7000"/>
            </a:avLst>
          </a:prstGeom>
          <a:solidFill>
            <a:srgbClr val="0E131A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614416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at the brief's own volume (2.1M interactions/yr, 3 use cases): </a:t>
            </a:r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₹5L platform + ₹10L managed service (incl. the triage bench) ≈ ₹25L/yr per client — against ₹1.2Cr+ modelled avoided loss (next slide). Why Accenture builds it: this productises what the Responsible AI practice already does manually — thousands of GenAI engagements are the install base.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floor you can defend, a band you can believe — assumptions on the slide.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262872" y="6510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Round 2 · 14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6400800" cy="3017520"/>
          </a:xfrm>
          <a:prstGeom prst="roundRect">
            <a:avLst>
              <a:gd name="adj" fmla="val 2121"/>
            </a:avLst>
          </a:prstGeom>
          <a:solidFill>
            <a:srgbClr val="11161D"/>
          </a:solidFill>
          <a:ln w="9525">
            <a:solidFill>
              <a:srgbClr val="2631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CASE — REMEDIATION ONLY, ZERO REGULATORY TERM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(brief parameter)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40,000 interactions/week ≈ 2.1M/yr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Material-failure rate (assumed → measured in shadow)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Catch rate (measured on benchmark)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failure reaching a user (remediation + concession)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Avoided loss floor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₹1.2 Cr / yr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All-in assurance cost: 3 × ₹5L platform + ₹10L managed service — which INCLUDES the triage bench (0.4% escalation rate × 2.1M = 8,400/yr × 10 min × ₹500/hr ≈ ₹7L)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₹25L / yr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 floor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4.8×  before any regulatory term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4572000"/>
            <a:ext cx="6400800" cy="1783080"/>
          </a:xfrm>
          <a:prstGeom prst="roundRect">
            <a:avLst>
              <a:gd name="adj" fmla="val 3590"/>
            </a:avLst>
          </a:prstGeom>
          <a:solidFill>
            <a:srgbClr val="0E131A"/>
          </a:solidFill>
          <a:ln w="9525">
            <a:solidFill>
              <a:srgbClr val="EAB3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709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BAND — SHOWN SEPARATELY, NEVER BLENDED 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5010912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Probability-weighted regulatory and brand exposure (DPDP Act obligations for personal-data safeguards; incident disclosure; goodwill) adds a modelled ₹30L–₹1.5Cr expected term. We never anchor on the statutory ceiling — multiplying a tiny probability by a maximum penalty is fear math a CFO discounts on sight.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178040" y="1371600"/>
            <a:ext cx="4507992" cy="4983480"/>
          </a:xfrm>
          <a:prstGeom prst="roundRect">
            <a:avLst>
              <a:gd name="adj" fmla="val 1420"/>
            </a:avLst>
          </a:prstGeom>
          <a:solidFill>
            <a:srgbClr val="11161D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60920" y="1517904"/>
            <a:ext cx="4325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SURVIVES A CFO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60920" y="1847088"/>
            <a:ext cx="4142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input is on the slide — attack the assumption, not the method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rate is not ours to claim: Phase 0 shadow mode measures it on the client's own traffic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severity table is not ours to invent: the client's risk office signs it during the assessment — that signature makes the episode budget THEIR number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labour sits inside the denominator — the ROI is net of the humans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assurance meter and the episode budget are the same ₹ machinery: the ROI dashboard is the product, not a spreadsheet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episode layer exists from day zero. Phases gate enforcement authority, not capability.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262872" y="6510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Round 2 · 15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590038" cy="2377440"/>
          </a:xfrm>
          <a:prstGeom prst="roundRect">
            <a:avLst>
              <a:gd name="adj" fmla="val 2692"/>
            </a:avLst>
          </a:prstGeom>
          <a:solidFill>
            <a:srgbClr val="11161D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9961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· OBSERVE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2315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0–6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2231136"/>
            <a:ext cx="23157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mode on exported logs / shadow: full episode ledger runs, zero enforcement. Outputs: FP/FN baseline, benign-episode budget calibration, episode risk report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67278" y="1371600"/>
            <a:ext cx="2590038" cy="2377440"/>
          </a:xfrm>
          <a:prstGeom prst="roundRect">
            <a:avLst>
              <a:gd name="adj" fmla="val 2692"/>
            </a:avLst>
          </a:prstGeom>
          <a:solidFill>
            <a:srgbClr val="11161D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4438" y="149961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ENFORCE RESPONSES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04438" y="1938528"/>
            <a:ext cx="2315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6–14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04438" y="2231136"/>
            <a:ext cx="23157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use case, conservative operating point set on the console; overrides start feeding retune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31636" y="1371600"/>
            <a:ext cx="2590038" cy="2377440"/>
          </a:xfrm>
          <a:prstGeom prst="roundRect">
            <a:avLst>
              <a:gd name="adj" fmla="val 2692"/>
            </a:avLst>
          </a:prstGeom>
          <a:solidFill>
            <a:srgbClr val="11161D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8796" y="149961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ENFORCE EPISODES &amp; ACTIONS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68796" y="1938528"/>
            <a:ext cx="2315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4–8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68796" y="2231136"/>
            <a:ext cx="23157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+ action gate get block/hold authority on the regulated lane; two-person override live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95994" y="1371600"/>
            <a:ext cx="2590038" cy="2377440"/>
          </a:xfrm>
          <a:prstGeom prst="roundRect">
            <a:avLst>
              <a:gd name="adj" fmla="val 2692"/>
            </a:avLst>
          </a:prstGeom>
          <a:solidFill>
            <a:srgbClr val="11161D"/>
          </a:solidFill>
          <a:ln w="9525">
            <a:solidFill>
              <a:srgbClr val="EAB3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3154" y="149961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ESTATE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233154" y="1938528"/>
            <a:ext cx="2315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8–18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233154" y="2231136"/>
            <a:ext cx="23157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use cases, jurisdiction packs, detector-adapter marketplace (bring your own vendor), cross-estate identity windows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2336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165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False-positive fatigue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shadow first · operating point is the client's dial · 0/47 false holds measured · overturn-rate watch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 regression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scheduler with per-detector timeouts · honest coverage score · measured 12.6/20.3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Checker fails or is attacked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fail-open/closed per lane · Tier 0 never sheds · ingress gate · GuardFall-informed red-teaming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Detector drift / vendor change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recalibration vs frozen canary set · model fingerprint on every decision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Ledger becomes a privacy liability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keyed HMAC digests, no raw text · split quarantined feedback store · retention policy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Fast-follow by incumbents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moat is the unit of account + the signed severity methodology + Accenture's delivery install base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COVERAGE, STATED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brief requirement has a mechanism. Every boundary is ours, said first.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262872" y="6510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Round 2 · 16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 risk/latency budgets per use case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 packs + budget scheduler + coverage score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risk categories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multi-label vector; correlated clusters — two labels, one debit (132/132)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reliable real-time ground truth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unsupported-assertion detection + first-class abstention (43/43)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Over- vs under-flagging tradeoff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operating-point console over the measured sweep; 0 false flags at chosen point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Multi-turn &amp; agent compounding 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 episode budget · claim taint · action gate (41/41, 0/47)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Evolving regulation by geography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jurisdiction overlays, hot-reload, versioned + hashed + anti-rollback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API-only model access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pure I/O layer; opportunistic logprobs recorded in the fingerprint, never faked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 &amp; audit trail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hash-chained HMAC ledger, external anchors, two-person overrides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loops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quarantined override store → threshold retune → before/after on the dashboard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 for a sceptical stakeholder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7DE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counts + Wilson CIs + ECE + reliability diagram + reproduction scripts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371600"/>
            <a:ext cx="3959352" cy="3108960"/>
          </a:xfrm>
          <a:prstGeom prst="roundRect">
            <a:avLst>
              <a:gd name="adj" fmla="val 2059"/>
            </a:avLst>
          </a:prstGeom>
          <a:solidFill>
            <a:srgbClr val="0E131A"/>
          </a:solidFill>
          <a:ln w="9525">
            <a:solidFill>
              <a:srgbClr val="EAB30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9560" y="1517904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DELIBERATELY DOES NOT DO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09560" y="1828800"/>
            <a:ext cx="35935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truth — we detect unsupported assertion and abstain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model internals — API-only is the brief's constraint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custom detectors — adapters are commodity; governance is the IP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benchmarked bias detection — the heuristic can annotate, never block; said out loud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26680" y="4663440"/>
            <a:ext cx="3959352" cy="1691640"/>
          </a:xfrm>
          <a:prstGeom prst="roundRect">
            <a:avLst>
              <a:gd name="adj" fmla="val 3784"/>
            </a:avLst>
          </a:prstGeom>
          <a:solidFill>
            <a:srgbClr val="11161D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09560" y="4828032"/>
            <a:ext cx="3593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 close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programme already checks its responses. Nobody governs its tasks. ControlPlane is the control point at the only moment that matters — before the irreversible action.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2026-08-30T13:59:50Z</dcterms:created>
  <dcterms:modified xsi:type="dcterms:W3CDTF">2026-08-30T13:59:50Z</dcterms:modified>
</cp:coreProperties>
</file>